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[Diego López] Buenos días. Somos el grupo del reto CGIAR Eyes on the Ground. La pregunta que guía todo el proyecto es sencilla: ¿se puede estimar, solo con una foto tomada con un teléfono, qué porcentaje de un cultivo se perdió por sequía? En esta foto, por ejemplo, el evaluador asignó una magnitud de 100: pérdida total. Probamos seis modelos, desde un predictor de referencia hasta tres redes convolucionales, y construimos una aplicación web que los usa con datos reales. Les contamos el problema, los datos, cómo evaluamos, qué aprendimos de cada modelo y qué recomendamos.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[Diego López] ACRE Africa ofrece seguros agrícolas a pequeños productores. Cuando hay un reclamo, el productor manda fotos de su campo y un evaluador estima a ojo qué porcentaje se perdió. Eso toma tiempo y retrasa el pago. La competencia nos dio 26 068 fotos de entrenamiento con su diagnóstico y su magnitud. Solo el 17 % tiene sequía, y la magnitud va de 0 a 100 en pasos de 10. Nuestra pregunta científica es con qué error se puede estimar esa magnitud cuando evaluamos en campos que el modelo nunca vio, porque así llegaría un reclamo nuevo.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[Esteban Cárcamo] El análisis exploratorio nos dejó tres decisiones. Primero, la magnitud solo es distinta de cero cuando el diagnóstico es sequía; los otros siete diagnósticos valen cero siempre. Por eso los modelos estiman la severidad solo dentro de la sequía, y a lo demás le asignamos cero con una regla. Segundo, las fotos vienen en grupos del mismo campo: si partíamos al azar, casi nueve de cada diez fotos de validación eran de campos ya vistos, y la evaluación saldría inflada. Tercero, las condiciones cambian entre temporadas: en SR2021 aparecen fotos de alta resolución, y la severidad media también cambia, como ven en la gráfica: SR2020 tiene la sequía más fuerte.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[Esteban Cárcamo] Así evaluamos. De las 23 350 fotos aptas, 4 489 tienen sequía. Las partimos por campo: el 20 % de los campos va a prueba, con una semilla fija para que los cuatro trabajemos con la misma partición. Quedan 3 655 fotos para entrenar y 834 para probar, y ningún campo aparece en ambos lados. Dentro del entrenamiento, la validación también separa campos. A los registros con otro diagnóstico les asignamos cero con una regla, así que la comparación se hace sobre las fotos con sequía, con MAE, RMSE y R². El conjunto de prueba se usó una sola vez por modelo.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[Diego López] Probamos seis modelos en tres familias. Las referencias son un predictor constante, que siempre dice la media, y una regresión sobre el exceso de verde, el índice de color que más se relacionaba con el daño. Luego un Random Forest con nueve atributos de color y exposición, ajustado con 30 combinaciones y validación por campo. El Random Forest baja el RMSE de 24.09 a 20.61, y casi la mitad de su importancia es el exceso de verde. Pero ahí se estanca: un promedio de color mezcla hojas, suelo y cielo. Por eso probamos redes que aprenden de la foto completa.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[Ernesto Ascencio] Entrenamos ResNet50 de dos formas. La primera sigue el procedimiento común que compartimos con DenseNet: pesos de ImageNet, solo la cabeza o también el último bloque, y parada temprana. Llegó a 18.33 de RMSE. La segunda es una receta ajustada: entrena toda la red con una tasa menor en las capas preentrenadas, usa un programa coseno, ve la foto a 320 píxeles y promedia la predicción con la imagen reflejada. Bajó a 17.84, el menor error de los seis, y su mejora en MAE es significativa según un bootstrap pareado. Lo que más ayudó fue la resolución: con 320 píxeles se conservan detalles de las hojas.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[Esteban Cárcamo] Mi modelo fue DenseNet121. Conecta cada capa con todas las anteriores de su bloque, así reutiliza características y llega a una exactitud parecida a ResNet50 con un tercio de los parámetros. Lo entrené con exactamente el mismo procedimiento que la ResNet50, para que la diferencia fuera la arquitectura. La mejor configuración entrenó solo la capa de salida; cuando ajusté el último bloque con la tasa mayor, sobreajustó desde la segunda época. Obtuvo 19.36 de RMSE, un punto más que ResNet50, y el bootstrap confirma que esa diferencia es real. Con los bloques congelados, la red no adapta sus filtros a las señales de la sequía.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[Ernesto Ascencio] Aquí están los seis juntos, ordenados por RMSE sobre las fotos con sequía. El orden es claro: los modelos de color mejoran poco al predictor constante, y las tres redes mejoran más. La ResNet50 ajustada reduce el error un 26 %. Algo importante: en todos los modelos el error de prueba quedó cerca del de validación, por ejemplo 17.99 contra 18.33 en ResNet50, lo que indica que separar por campo nos dio una estimación honesta. SR2020, la temporada con la sequía más fuerte, es la más difícil para todos.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[Ernesto Ascencio] La principal limitación es que todos los modelos comprimen sus predicciones hacia el centro de la escala. A una foto con daño leve le dan más de lo real, y a una con daño severo, menos. Aun así, la predicción media sube con la magnitud real, así que las redes ordenan bien las fotos por severidad. La ResNet50 ajustada deja el 77 % de las predicciones a 20 puntos o menos del valor real. Por eso la vemos como apoyo para priorizar reclamos, no para calcular el monto final. En la prueba solo hay 9 fotos con magnitud 100, así que ese extremo es poco estable.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[Hugo Barillas] Construimos una aplicación web con React y una API en FastAPI. Las dos comparten un contrato OpenAPI, así que la interfaz no puede pedir un dato que la API no ofrece. Tiene cinco páginas: inicio, exploración de los datos con la foto de cada registro, la descripción de cada modelo con su búsqueda de hiperparámetros, el rendimiento sobre la prueba, y la predicción. En la predicción, el usuario sube una foto, indica el diagnóstico si lo conoce y ve la magnitud de cada uno de los seis modelos en unos 0.2 segundos. Todo lo que muestra son los datos y resultados reales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[Hugo Barillas] Cerramos con tres conclusiones. Primera: aprender de la foto completa funciona mejor que resumirla en colores; la mejor red baja casi tres puntos el error del Random Forest. Segunda: para la aplicación recomendamos la ResNet50 del procedimiento común. Tiene casi el menor error y responde en dos tercios del tiempo de la ajustada; si la velocidad no importara, usaríamos la ajustada. Tercera: las mejoras siguientes están en los datos, no en la arquitectura: más fotos de daño severo y tratar la magnitud como una escala ordinal.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[Hugo Barillas] Gracias por su atención. El código, los cuadernos, el informe y la aplicación están en el repositorio. Con gusto respondemos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566928" cy="566928"/>
          </a:xfrm>
          <a:prstGeom prst="rect">
            <a:avLst/>
          </a:prstGeom>
          <a:solidFill>
            <a:srgbClr val="2E6F4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28009" y="570951"/>
            <a:ext cx="408189" cy="396849"/>
          </a:xfrm>
          <a:custGeom>
            <a:avLst/>
            <a:gdLst/>
            <a:ahLst/>
            <a:cxnLst/>
            <a:rect l="l" t="t" r="r" b="b"/>
            <a:pathLst>
              <a:path w="408189" h="396849">
                <a:moveTo>
                  <a:pt x="204094" y="396849"/>
                </a:moveTo>
                <a:lnTo>
                  <a:pt x="204094" y="119055"/>
                </a:lnTo>
                <a:lnTo>
                  <a:pt x="79370" y="45354"/>
                </a:lnTo>
                <a:lnTo>
                  <a:pt x="0" y="147401"/>
                </a:lnTo>
                <a:lnTo>
                  <a:pt x="204094" y="226771"/>
                </a:lnTo>
                <a:lnTo>
                  <a:pt x="204094" y="119055"/>
                </a:lnTo>
                <a:lnTo>
                  <a:pt x="351496" y="0"/>
                </a:lnTo>
                <a:lnTo>
                  <a:pt x="408189" y="119055"/>
                </a:lnTo>
                <a:lnTo>
                  <a:pt x="204094" y="187086"/>
                </a:lnTo>
                <a:lnTo>
                  <a:pt x="204094" y="396849"/>
                </a:lnTo>
              </a:path>
            </a:pathLst>
          </a:custGeom>
          <a:noFill/>
          <a:ln w="3280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61872" y="502920"/>
            <a:ext cx="4572000" cy="320040"/>
          </a:xfrm>
          <a:prstGeom prst="rect">
            <a:avLst/>
          </a:prstGeom>
          <a:noFill/>
        </p:spPr>
        <p:txBody>
          <a:bodyPr wrap="square" anchor="t" lIns="0" rIns="0" tIns="0" bIns="0">
            <a:spAutoFit/>
          </a:bodyPr>
          <a:lstStyle/>
          <a:p>
            <a:pPr algn="l">
              <a:lnSpc>
                <a:spcPct val="110000"/>
              </a:lnSpc>
            </a:pPr>
            <a:r>
              <a:rPr sz="2000" b="0">
                <a:solidFill>
                  <a:srgbClr val="000000"/>
                </a:solidFill>
                <a:latin typeface="Archivo Black"/>
              </a:rPr>
              <a:t>Ojos en el campo</a:t>
            </a:r>
          </a:p>
        </p:txBody>
      </p:sp>
      <p:sp>
        <p:nvSpPr>
          <p:cNvPr id="6" name="TextBox 5"/>
          <p:cNvSpPr txBox="1"/>
          <p:nvPr/>
        </p:nvSpPr>
        <p:spPr>
          <a:xfrm>
            <a:off x="1261872" y="822960"/>
            <a:ext cx="4572000" cy="274320"/>
          </a:xfrm>
          <a:prstGeom prst="rect">
            <a:avLst/>
          </a:prstGeom>
          <a:noFill/>
        </p:spPr>
        <p:txBody>
          <a:bodyPr wrap="square" anchor="t" lIns="0" rIns="0" tIns="0" bIns="0">
            <a:spAutoFit/>
          </a:bodyPr>
          <a:lstStyle/>
          <a:p>
            <a:pPr algn="l">
              <a:lnSpc>
                <a:spcPct val="110000"/>
              </a:lnSpc>
            </a:pPr>
            <a:r>
              <a:rPr sz="1300" b="0">
                <a:solidFill>
                  <a:srgbClr val="4A4A4A"/>
                </a:solidFill>
                <a:latin typeface="Space Grotesk"/>
              </a:rPr>
              <a:t>Daño por sequía en cultivos</a:t>
            </a:r>
          </a:p>
        </p:txBody>
      </p:sp>
      <p:sp>
        <p:nvSpPr>
          <p:cNvPr id="7" name="Rectangle 6"/>
          <p:cNvSpPr/>
          <p:nvPr/>
        </p:nvSpPr>
        <p:spPr>
          <a:xfrm>
            <a:off x="594360" y="1645920"/>
            <a:ext cx="3845052"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00200"/>
            <a:ext cx="3845052" cy="310896"/>
          </a:xfrm>
          <a:prstGeom prst="rect">
            <a:avLst/>
          </a:prstGeom>
          <a:solidFill>
            <a:srgbClr val="C9A227"/>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00200"/>
            <a:ext cx="3845052" cy="310896"/>
          </a:xfrm>
          <a:prstGeom prst="rect">
            <a:avLst/>
          </a:prstGeom>
          <a:noFill/>
        </p:spPr>
        <p:txBody>
          <a:bodyPr wrap="square" anchor="ctr" lIns="0" rIns="0" tIns="0" bIns="0">
            <a:spAutoFit/>
          </a:bodyPr>
          <a:lstStyle/>
          <a:p>
            <a:pPr algn="ctr">
              <a:lnSpc>
                <a:spcPct val="110000"/>
              </a:lnSpc>
            </a:pPr>
            <a:r>
              <a:rPr sz="1100" b="0">
                <a:solidFill>
                  <a:srgbClr val="000000"/>
                </a:solidFill>
                <a:latin typeface="Archivo Black"/>
              </a:rPr>
              <a:t>PROYECTO 2 · CGIAR EYES ON THE GROUND</a:t>
            </a:r>
          </a:p>
        </p:txBody>
      </p:sp>
      <p:sp>
        <p:nvSpPr>
          <p:cNvPr id="10" name="TextBox 9"/>
          <p:cNvSpPr txBox="1"/>
          <p:nvPr/>
        </p:nvSpPr>
        <p:spPr>
          <a:xfrm>
            <a:off x="548640" y="2103120"/>
            <a:ext cx="6675120" cy="2103120"/>
          </a:xfrm>
          <a:prstGeom prst="rect">
            <a:avLst/>
          </a:prstGeom>
          <a:noFill/>
        </p:spPr>
        <p:txBody>
          <a:bodyPr wrap="square" anchor="t" lIns="0" rIns="0" tIns="0" bIns="0">
            <a:spAutoFit/>
          </a:bodyPr>
          <a:lstStyle/>
          <a:p>
            <a:pPr algn="l">
              <a:lnSpc>
                <a:spcPct val="100000"/>
              </a:lnSpc>
            </a:pPr>
            <a:r>
              <a:rPr sz="3400" b="0">
                <a:solidFill>
                  <a:srgbClr val="000000"/>
                </a:solidFill>
                <a:latin typeface="Archivo Black"/>
              </a:rPr>
              <a:t>¿Cuánta cosecha se llevó la sequía? Estimarlo desde una foto</a:t>
            </a:r>
          </a:p>
        </p:txBody>
      </p:sp>
      <p:sp>
        <p:nvSpPr>
          <p:cNvPr id="11" name="TextBox 10"/>
          <p:cNvSpPr txBox="1"/>
          <p:nvPr/>
        </p:nvSpPr>
        <p:spPr>
          <a:xfrm>
            <a:off x="548640" y="4206240"/>
            <a:ext cx="6309360" cy="822960"/>
          </a:xfrm>
          <a:prstGeom prst="rect">
            <a:avLst/>
          </a:prstGeom>
          <a:noFill/>
        </p:spPr>
        <p:txBody>
          <a:bodyPr wrap="square" anchor="t" lIns="0" rIns="0" tIns="0" bIns="0">
            <a:spAutoFit/>
          </a:bodyPr>
          <a:lstStyle/>
          <a:p>
            <a:pPr algn="l">
              <a:lnSpc>
                <a:spcPct val="110000"/>
              </a:lnSpc>
            </a:pPr>
            <a:r>
              <a:rPr sz="1600" b="0">
                <a:solidFill>
                  <a:srgbClr val="4A4A4A"/>
                </a:solidFill>
                <a:latin typeface="Space Grotesk"/>
              </a:rPr>
              <a:t>Comparamos seis modelos de aprendizaje automático para estimar la magnitud del daño por sequía en fotografías de pequeños productores de Kenia.</a:t>
            </a:r>
          </a:p>
        </p:txBody>
      </p:sp>
      <p:sp>
        <p:nvSpPr>
          <p:cNvPr id="12" name="Rectangle 11"/>
          <p:cNvSpPr/>
          <p:nvPr/>
        </p:nvSpPr>
        <p:spPr>
          <a:xfrm>
            <a:off x="621792" y="5193792"/>
            <a:ext cx="6309360" cy="10972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120640"/>
            <a:ext cx="6309360" cy="109728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257800"/>
            <a:ext cx="5852160" cy="365760"/>
          </a:xfrm>
          <a:prstGeom prst="rect">
            <a:avLst/>
          </a:prstGeom>
          <a:noFill/>
        </p:spPr>
        <p:txBody>
          <a:bodyPr wrap="square" anchor="t" lIns="0" rIns="0" tIns="0" bIns="0">
            <a:spAutoFit/>
          </a:bodyPr>
          <a:lstStyle/>
          <a:p>
            <a:pPr algn="l">
              <a:lnSpc>
                <a:spcPct val="110000"/>
              </a:lnSpc>
            </a:pPr>
            <a:r>
              <a:rPr sz="1350" b="1">
                <a:solidFill>
                  <a:srgbClr val="000000"/>
                </a:solidFill>
                <a:latin typeface="Space Grotesk"/>
              </a:rPr>
              <a:t>Ernesto Ascencio · Hugo Barillas · Esteban Cárcamo · Diego López</a:t>
            </a:r>
          </a:p>
        </p:txBody>
      </p:sp>
      <p:sp>
        <p:nvSpPr>
          <p:cNvPr id="15" name="TextBox 14"/>
          <p:cNvSpPr txBox="1"/>
          <p:nvPr/>
        </p:nvSpPr>
        <p:spPr>
          <a:xfrm>
            <a:off x="777240" y="5669280"/>
            <a:ext cx="5852160" cy="365760"/>
          </a:xfrm>
          <a:prstGeom prst="rect">
            <a:avLst/>
          </a:prstGeom>
          <a:noFill/>
        </p:spPr>
        <p:txBody>
          <a:bodyPr wrap="square" anchor="t" lIns="0" rIns="0" tIns="0" bIns="0">
            <a:spAutoFit/>
          </a:bodyPr>
          <a:lstStyle/>
          <a:p>
            <a:pPr algn="l">
              <a:lnSpc>
                <a:spcPct val="110000"/>
              </a:lnSpc>
            </a:pPr>
            <a:r>
              <a:rPr sz="1300" b="0">
                <a:solidFill>
                  <a:srgbClr val="4A4A4A"/>
                </a:solidFill>
                <a:latin typeface="Space Grotesk"/>
              </a:rPr>
              <a:t>CC3084 Data Science  ·  Sección 20  ·  19 de octubre de 2026</a:t>
            </a:r>
          </a:p>
        </p:txBody>
      </p:sp>
      <p:sp>
        <p:nvSpPr>
          <p:cNvPr id="16" name="Rectangle 15"/>
          <p:cNvSpPr/>
          <p:nvPr/>
        </p:nvSpPr>
        <p:spPr>
          <a:xfrm>
            <a:off x="7571231" y="987552"/>
            <a:ext cx="4160520" cy="40233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98079" y="914400"/>
            <a:ext cx="4160520" cy="402336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428F00984C39S14255Rp48502.jpg"/>
          <p:cNvPicPr>
            <a:picLocks noChangeAspect="1"/>
          </p:cNvPicPr>
          <p:nvPr/>
        </p:nvPicPr>
        <p:blipFill>
          <a:blip r:embed="rId2"/>
          <a:stretch>
            <a:fillRect/>
          </a:stretch>
        </p:blipFill>
        <p:spPr>
          <a:xfrm>
            <a:off x="7607808" y="1448181"/>
            <a:ext cx="3941063" cy="2955797"/>
          </a:xfrm>
          <a:prstGeom prst="rect">
            <a:avLst/>
          </a:prstGeom>
        </p:spPr>
      </p:pic>
      <p:sp>
        <p:nvSpPr>
          <p:cNvPr id="19" name="Rectangle 18"/>
          <p:cNvSpPr/>
          <p:nvPr/>
        </p:nvSpPr>
        <p:spPr>
          <a:xfrm>
            <a:off x="7571231" y="5239512"/>
            <a:ext cx="4160520" cy="10515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79" y="5166360"/>
            <a:ext cx="4160520" cy="105156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26679" y="5440680"/>
            <a:ext cx="256032" cy="256032"/>
          </a:xfrm>
          <a:prstGeom prst="rect">
            <a:avLst/>
          </a:prstGeom>
          <a:solidFill>
            <a:srgbClr val="8C3B2E"/>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40" y="5330952"/>
            <a:ext cx="3383280" cy="457200"/>
          </a:xfrm>
          <a:prstGeom prst="rect">
            <a:avLst/>
          </a:prstGeom>
          <a:noFill/>
        </p:spPr>
        <p:txBody>
          <a:bodyPr wrap="square" anchor="t" lIns="0" rIns="0" tIns="0" bIns="0">
            <a:spAutoFit/>
          </a:bodyPr>
          <a:lstStyle/>
          <a:p>
            <a:pPr algn="l">
              <a:lnSpc>
                <a:spcPct val="110000"/>
              </a:lnSpc>
            </a:pPr>
            <a:r>
              <a:rPr sz="1700" b="0">
                <a:solidFill>
                  <a:srgbClr val="000000"/>
                </a:solidFill>
                <a:latin typeface="Archivo Black"/>
              </a:rPr>
              <a:t>Magnitud 100  ·  Sequía</a:t>
            </a:r>
          </a:p>
        </p:txBody>
      </p:sp>
      <p:sp>
        <p:nvSpPr>
          <p:cNvPr id="23" name="TextBox 22"/>
          <p:cNvSpPr txBox="1"/>
          <p:nvPr/>
        </p:nvSpPr>
        <p:spPr>
          <a:xfrm>
            <a:off x="8092440" y="5715000"/>
            <a:ext cx="3429000" cy="411480"/>
          </a:xfrm>
          <a:prstGeom prst="rect">
            <a:avLst/>
          </a:prstGeom>
          <a:noFill/>
        </p:spPr>
        <p:txBody>
          <a:bodyPr wrap="square" anchor="t" lIns="0" rIns="0" tIns="0" bIns="0">
            <a:spAutoFit/>
          </a:bodyPr>
          <a:lstStyle/>
          <a:p>
            <a:pPr algn="l">
              <a:lnSpc>
                <a:spcPct val="110000"/>
              </a:lnSpc>
            </a:pPr>
            <a:r>
              <a:rPr sz="1200" b="0">
                <a:solidFill>
                  <a:srgbClr val="4A4A4A"/>
                </a:solidFill>
                <a:latin typeface="Space Grotesk"/>
              </a:rPr>
              <a:t>Foto de prueba de SR2021: el suelo queda expuesto y la planta, seca.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56032"/>
            <a:ext cx="384048" cy="384048"/>
          </a:xfrm>
          <a:prstGeom prst="rect">
            <a:avLst/>
          </a:prstGeom>
          <a:solidFill>
            <a:srgbClr val="2E6F40"/>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2406" y="302117"/>
            <a:ext cx="276515" cy="268834"/>
          </a:xfrm>
          <a:custGeom>
            <a:avLst/>
            <a:gdLst/>
            <a:ahLst/>
            <a:cxnLst/>
            <a:rect l="l" t="t" r="r" b="b"/>
            <a:pathLst>
              <a:path w="276515" h="268834">
                <a:moveTo>
                  <a:pt x="138258" y="268834"/>
                </a:moveTo>
                <a:lnTo>
                  <a:pt x="138258" y="80650"/>
                </a:lnTo>
                <a:lnTo>
                  <a:pt x="53767" y="30724"/>
                </a:lnTo>
                <a:lnTo>
                  <a:pt x="0" y="99853"/>
                </a:lnTo>
                <a:lnTo>
                  <a:pt x="138258" y="153619"/>
                </a:lnTo>
                <a:lnTo>
                  <a:pt x="138258" y="80650"/>
                </a:lnTo>
                <a:lnTo>
                  <a:pt x="238110" y="0"/>
                </a:lnTo>
                <a:lnTo>
                  <a:pt x="276515" y="80650"/>
                </a:lnTo>
                <a:lnTo>
                  <a:pt x="138258" y="126736"/>
                </a:lnTo>
                <a:lnTo>
                  <a:pt x="138258" y="268834"/>
                </a:lnTo>
              </a:path>
            </a:pathLst>
          </a:custGeom>
          <a:no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46888"/>
            <a:ext cx="3657600" cy="274320"/>
          </a:xfrm>
          <a:prstGeom prst="rect">
            <a:avLst/>
          </a:prstGeom>
          <a:noFill/>
        </p:spPr>
        <p:txBody>
          <a:bodyPr wrap="square" anchor="t" lIns="0" rIns="0" tIns="0" bIns="0">
            <a:spAutoFit/>
          </a:bodyPr>
          <a:lstStyle/>
          <a:p>
            <a:pPr algn="l">
              <a:lnSpc>
                <a:spcPct val="110000"/>
              </a:lnSpc>
            </a:pPr>
            <a:r>
              <a:rPr sz="1500" b="0">
                <a:solidFill>
                  <a:srgbClr val="000000"/>
                </a:solidFill>
                <a:latin typeface="Archivo Black"/>
              </a:rPr>
              <a:t>Ojos en el campo</a:t>
            </a:r>
          </a:p>
        </p:txBody>
      </p:sp>
      <p:sp>
        <p:nvSpPr>
          <p:cNvPr id="6" name="TextBox 5"/>
          <p:cNvSpPr txBox="1"/>
          <p:nvPr/>
        </p:nvSpPr>
        <p:spPr>
          <a:xfrm>
            <a:off x="1051560" y="484632"/>
            <a:ext cx="3657600" cy="228600"/>
          </a:xfrm>
          <a:prstGeom prst="rect">
            <a:avLst/>
          </a:prstGeom>
          <a:noFill/>
        </p:spPr>
        <p:txBody>
          <a:bodyPr wrap="square" anchor="t" lIns="0" rIns="0" tIns="0" bIns="0">
            <a:spAutoFit/>
          </a:bodyPr>
          <a:lstStyle/>
          <a:p>
            <a:pPr algn="l">
              <a:lnSpc>
                <a:spcPct val="110000"/>
              </a:lnSpc>
            </a:pPr>
            <a:r>
              <a:rPr sz="1050" b="0">
                <a:solidFill>
                  <a:srgbClr val="4A4A4A"/>
                </a:solidFill>
                <a:latin typeface="Space Grotesk"/>
              </a:rPr>
              <a:t>Daño por sequía en cultivos</a:t>
            </a:r>
          </a:p>
        </p:txBody>
      </p:sp>
      <p:sp>
        <p:nvSpPr>
          <p:cNvPr id="7" name="TextBox 6"/>
          <p:cNvSpPr txBox="1"/>
          <p:nvPr/>
        </p:nvSpPr>
        <p:spPr>
          <a:xfrm>
            <a:off x="8412480" y="329184"/>
            <a:ext cx="3246120" cy="274320"/>
          </a:xfrm>
          <a:prstGeom prst="rect">
            <a:avLst/>
          </a:prstGeom>
          <a:noFill/>
        </p:spPr>
        <p:txBody>
          <a:bodyPr wrap="square" anchor="t" lIns="0" rIns="0" tIns="0" bIns="0">
            <a:spAutoFit/>
          </a:bodyPr>
          <a:lstStyle/>
          <a:p>
            <a:pPr algn="r">
              <a:lnSpc>
                <a:spcPct val="110000"/>
              </a:lnSpc>
            </a:pPr>
            <a:r>
              <a:rPr sz="1200" b="0">
                <a:solidFill>
                  <a:srgbClr val="000000"/>
                </a:solidFill>
                <a:latin typeface="Archivo Black"/>
              </a:rPr>
              <a:t>02 / 12</a:t>
            </a:r>
          </a:p>
        </p:txBody>
      </p:sp>
      <p:sp>
        <p:nvSpPr>
          <p:cNvPr id="8" name="Rectangle 7"/>
          <p:cNvSpPr/>
          <p:nvPr/>
        </p:nvSpPr>
        <p:spPr>
          <a:xfrm>
            <a:off x="0" y="822960"/>
            <a:ext cx="12191695"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10528"/>
            <a:ext cx="12191695" cy="3474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83680"/>
            <a:ext cx="11064240" cy="228600"/>
          </a:xfrm>
          <a:prstGeom prst="rect">
            <a:avLst/>
          </a:prstGeom>
          <a:noFill/>
        </p:spPr>
        <p:txBody>
          <a:bodyPr wrap="square" anchor="t" lIns="0" rIns="0" tIns="0" bIns="0">
            <a:spAutoFit/>
          </a:bodyPr>
          <a:lstStyle/>
          <a:p>
            <a:pPr algn="ctr">
              <a:lnSpc>
                <a:spcPct val="110000"/>
              </a:lnSpc>
            </a:pPr>
            <a:r>
              <a:rPr sz="1050" b="0">
                <a:solidFill>
                  <a:srgbClr val="FFFFFF"/>
                </a:solidFill>
                <a:latin typeface="Space Grotesk"/>
              </a:rPr>
              <a:t>CC3084 Data Science  ·  CGIAR Eyes on the Ground  ·  Universidad del Valle de Guatemala</a:t>
            </a:r>
          </a:p>
        </p:txBody>
      </p:sp>
      <p:sp>
        <p:nvSpPr>
          <p:cNvPr id="11" name="Rectangle 10"/>
          <p:cNvSpPr/>
          <p:nvPr/>
        </p:nvSpPr>
        <p:spPr>
          <a:xfrm>
            <a:off x="594360" y="1143000"/>
            <a:ext cx="1828800"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097280"/>
            <a:ext cx="1828800" cy="310896"/>
          </a:xfrm>
          <a:prstGeom prst="rect">
            <a:avLst/>
          </a:prstGeom>
          <a:solidFill>
            <a:srgbClr val="C9A227"/>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097280"/>
            <a:ext cx="1828800" cy="310896"/>
          </a:xfrm>
          <a:prstGeom prst="rect">
            <a:avLst/>
          </a:prstGeom>
          <a:noFill/>
        </p:spPr>
        <p:txBody>
          <a:bodyPr wrap="square" anchor="ctr" lIns="0" rIns="0" tIns="0" bIns="0">
            <a:spAutoFit/>
          </a:bodyPr>
          <a:lstStyle/>
          <a:p>
            <a:pPr algn="ctr">
              <a:lnSpc>
                <a:spcPct val="110000"/>
              </a:lnSpc>
            </a:pPr>
            <a:r>
              <a:rPr sz="1100" b="0">
                <a:solidFill>
                  <a:srgbClr val="000000"/>
                </a:solidFill>
                <a:latin typeface="Archivo Black"/>
              </a:rPr>
              <a:t>01 · EL PROBLEMA</a:t>
            </a:r>
          </a:p>
        </p:txBody>
      </p:sp>
      <p:sp>
        <p:nvSpPr>
          <p:cNvPr id="14" name="TextBox 13"/>
          <p:cNvSpPr txBox="1"/>
          <p:nvPr/>
        </p:nvSpPr>
        <p:spPr>
          <a:xfrm>
            <a:off x="548640" y="1536192"/>
            <a:ext cx="11064240" cy="685800"/>
          </a:xfrm>
          <a:prstGeom prst="rect">
            <a:avLst/>
          </a:prstGeom>
          <a:noFill/>
        </p:spPr>
        <p:txBody>
          <a:bodyPr wrap="square" anchor="t" lIns="0" rIns="0" tIns="0" bIns="0">
            <a:spAutoFit/>
          </a:bodyPr>
          <a:lstStyle/>
          <a:p>
            <a:pPr algn="l">
              <a:lnSpc>
                <a:spcPct val="100000"/>
              </a:lnSpc>
            </a:pPr>
            <a:r>
              <a:rPr sz="3000" b="0">
                <a:solidFill>
                  <a:srgbClr val="000000"/>
                </a:solidFill>
                <a:latin typeface="Archivo Black"/>
              </a:rPr>
              <a:t>Cada reclamo espera a que alguien mire la foto</a:t>
            </a:r>
          </a:p>
        </p:txBody>
      </p:sp>
      <p:sp>
        <p:nvSpPr>
          <p:cNvPr id="15" name="TextBox 14"/>
          <p:cNvSpPr txBox="1"/>
          <p:nvPr/>
        </p:nvSpPr>
        <p:spPr>
          <a:xfrm>
            <a:off x="548640" y="2240280"/>
            <a:ext cx="11064240" cy="411480"/>
          </a:xfrm>
          <a:prstGeom prst="rect">
            <a:avLst/>
          </a:prstGeom>
          <a:noFill/>
        </p:spPr>
        <p:txBody>
          <a:bodyPr wrap="square" anchor="t" lIns="0" rIns="0" tIns="0" bIns="0">
            <a:spAutoFit/>
          </a:bodyPr>
          <a:lstStyle/>
          <a:p>
            <a:pPr algn="l">
              <a:lnSpc>
                <a:spcPct val="110000"/>
              </a:lnSpc>
            </a:pPr>
            <a:r>
              <a:rPr sz="1450" b="0">
                <a:solidFill>
                  <a:srgbClr val="4A4A4A"/>
                </a:solidFill>
                <a:latin typeface="Space Grotesk"/>
              </a:rPr>
              <a:t>ACRE Africa revisa a mano las fotos que envían los productores para estimar la pérdida. Esa revisión retrasa los pagos.</a:t>
            </a:r>
          </a:p>
        </p:txBody>
      </p:sp>
      <p:sp>
        <p:nvSpPr>
          <p:cNvPr id="16" name="Rectangle 15"/>
          <p:cNvSpPr/>
          <p:nvPr/>
        </p:nvSpPr>
        <p:spPr>
          <a:xfrm>
            <a:off x="548640" y="2724912"/>
            <a:ext cx="11091672"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 y="3136392"/>
            <a:ext cx="3520440" cy="16916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63240"/>
            <a:ext cx="3520440" cy="169164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3227832"/>
            <a:ext cx="3118104" cy="685800"/>
          </a:xfrm>
          <a:prstGeom prst="rect">
            <a:avLst/>
          </a:prstGeom>
          <a:noFill/>
        </p:spPr>
        <p:txBody>
          <a:bodyPr wrap="square" anchor="t" lIns="0" rIns="0" tIns="0" bIns="0">
            <a:spAutoFit/>
          </a:bodyPr>
          <a:lstStyle/>
          <a:p>
            <a:pPr algn="l">
              <a:lnSpc>
                <a:spcPct val="110000"/>
              </a:lnSpc>
            </a:pPr>
            <a:r>
              <a:rPr sz="4000" b="0">
                <a:solidFill>
                  <a:srgbClr val="000000"/>
                </a:solidFill>
                <a:latin typeface="Archivo Black"/>
              </a:rPr>
              <a:t>26 068</a:t>
            </a:r>
          </a:p>
        </p:txBody>
      </p:sp>
      <p:sp>
        <p:nvSpPr>
          <p:cNvPr id="20" name="TextBox 19"/>
          <p:cNvSpPr txBox="1"/>
          <p:nvPr/>
        </p:nvSpPr>
        <p:spPr>
          <a:xfrm>
            <a:off x="749808" y="3845560"/>
            <a:ext cx="3118104" cy="726440"/>
          </a:xfrm>
          <a:prstGeom prst="rect">
            <a:avLst/>
          </a:prstGeom>
          <a:noFill/>
        </p:spPr>
        <p:txBody>
          <a:bodyPr wrap="square" anchor="t" lIns="0" rIns="0" tIns="0" bIns="0">
            <a:spAutoFit/>
          </a:bodyPr>
          <a:lstStyle/>
          <a:p>
            <a:pPr algn="l">
              <a:lnSpc>
                <a:spcPct val="110000"/>
              </a:lnSpc>
            </a:pPr>
            <a:r>
              <a:rPr sz="1350" b="0">
                <a:solidFill>
                  <a:srgbClr val="4A4A4A"/>
                </a:solidFill>
                <a:latin typeface="Space Grotesk"/>
              </a:rPr>
              <a:t>fotografías de entrenamiento con diagnóstico y magnitud del daño</a:t>
            </a:r>
          </a:p>
        </p:txBody>
      </p:sp>
      <p:sp>
        <p:nvSpPr>
          <p:cNvPr id="21" name="Rectangle 20"/>
          <p:cNvSpPr/>
          <p:nvPr/>
        </p:nvSpPr>
        <p:spPr>
          <a:xfrm>
            <a:off x="4416552" y="3136392"/>
            <a:ext cx="3520440" cy="16916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3400" y="3063240"/>
            <a:ext cx="3520440" cy="1691640"/>
          </a:xfrm>
          <a:prstGeom prst="rect">
            <a:avLst/>
          </a:prstGeom>
          <a:solidFill>
            <a:srgbClr val="EDE1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44568" y="3227832"/>
            <a:ext cx="3118104" cy="685800"/>
          </a:xfrm>
          <a:prstGeom prst="rect">
            <a:avLst/>
          </a:prstGeom>
          <a:noFill/>
        </p:spPr>
        <p:txBody>
          <a:bodyPr wrap="square" anchor="t" lIns="0" rIns="0" tIns="0" bIns="0">
            <a:spAutoFit/>
          </a:bodyPr>
          <a:lstStyle/>
          <a:p>
            <a:pPr algn="l">
              <a:lnSpc>
                <a:spcPct val="110000"/>
              </a:lnSpc>
            </a:pPr>
            <a:r>
              <a:rPr sz="4000" b="0">
                <a:solidFill>
                  <a:srgbClr val="000000"/>
                </a:solidFill>
                <a:latin typeface="Archivo Black"/>
              </a:rPr>
              <a:t>17 %</a:t>
            </a:r>
          </a:p>
        </p:txBody>
      </p:sp>
      <p:sp>
        <p:nvSpPr>
          <p:cNvPr id="24" name="TextBox 23"/>
          <p:cNvSpPr txBox="1"/>
          <p:nvPr/>
        </p:nvSpPr>
        <p:spPr>
          <a:xfrm>
            <a:off x="4544568" y="3845560"/>
            <a:ext cx="3118104" cy="726440"/>
          </a:xfrm>
          <a:prstGeom prst="rect">
            <a:avLst/>
          </a:prstGeom>
          <a:noFill/>
        </p:spPr>
        <p:txBody>
          <a:bodyPr wrap="square" anchor="t" lIns="0" rIns="0" tIns="0" bIns="0">
            <a:spAutoFit/>
          </a:bodyPr>
          <a:lstStyle/>
          <a:p>
            <a:pPr algn="l">
              <a:lnSpc>
                <a:spcPct val="110000"/>
              </a:lnSpc>
            </a:pPr>
            <a:r>
              <a:rPr sz="1350" b="0">
                <a:solidFill>
                  <a:srgbClr val="4A4A4A"/>
                </a:solidFill>
                <a:latin typeface="Space Grotesk"/>
              </a:rPr>
              <a:t>tiene diagnóstico de sequía; solo esas tienen pérdida mayor que cero</a:t>
            </a:r>
          </a:p>
        </p:txBody>
      </p:sp>
      <p:sp>
        <p:nvSpPr>
          <p:cNvPr id="25" name="Rectangle 24"/>
          <p:cNvSpPr/>
          <p:nvPr/>
        </p:nvSpPr>
        <p:spPr>
          <a:xfrm>
            <a:off x="8211312" y="3136392"/>
            <a:ext cx="3502152" cy="16916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3063240"/>
            <a:ext cx="3502152" cy="169164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9328" y="3227832"/>
            <a:ext cx="3099816" cy="685800"/>
          </a:xfrm>
          <a:prstGeom prst="rect">
            <a:avLst/>
          </a:prstGeom>
          <a:noFill/>
        </p:spPr>
        <p:txBody>
          <a:bodyPr wrap="square" anchor="t" lIns="0" rIns="0" tIns="0" bIns="0">
            <a:spAutoFit/>
          </a:bodyPr>
          <a:lstStyle/>
          <a:p>
            <a:pPr algn="l">
              <a:lnSpc>
                <a:spcPct val="110000"/>
              </a:lnSpc>
            </a:pPr>
            <a:r>
              <a:rPr sz="4000" b="0">
                <a:solidFill>
                  <a:srgbClr val="000000"/>
                </a:solidFill>
                <a:latin typeface="Archivo Black"/>
              </a:rPr>
              <a:t>0 – 100</a:t>
            </a:r>
          </a:p>
        </p:txBody>
      </p:sp>
      <p:sp>
        <p:nvSpPr>
          <p:cNvPr id="28" name="TextBox 27"/>
          <p:cNvSpPr txBox="1"/>
          <p:nvPr/>
        </p:nvSpPr>
        <p:spPr>
          <a:xfrm>
            <a:off x="8339328" y="3845560"/>
            <a:ext cx="3099816" cy="726440"/>
          </a:xfrm>
          <a:prstGeom prst="rect">
            <a:avLst/>
          </a:prstGeom>
          <a:noFill/>
        </p:spPr>
        <p:txBody>
          <a:bodyPr wrap="square" anchor="t" lIns="0" rIns="0" tIns="0" bIns="0">
            <a:spAutoFit/>
          </a:bodyPr>
          <a:lstStyle/>
          <a:p>
            <a:pPr algn="l">
              <a:lnSpc>
                <a:spcPct val="110000"/>
              </a:lnSpc>
            </a:pPr>
            <a:r>
              <a:rPr sz="1350" b="0">
                <a:solidFill>
                  <a:srgbClr val="4A4A4A"/>
                </a:solidFill>
                <a:latin typeface="Space Grotesk"/>
              </a:rPr>
              <a:t>escala de la magnitud del daño, en pasos de 10 puntos</a:t>
            </a:r>
          </a:p>
        </p:txBody>
      </p:sp>
      <p:sp>
        <p:nvSpPr>
          <p:cNvPr id="29" name="Rectangle 28"/>
          <p:cNvSpPr/>
          <p:nvPr/>
        </p:nvSpPr>
        <p:spPr>
          <a:xfrm>
            <a:off x="621792" y="5148072"/>
            <a:ext cx="11091672" cy="10972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074920"/>
            <a:ext cx="11091672" cy="1097280"/>
          </a:xfrm>
          <a:prstGeom prst="rect">
            <a:avLst/>
          </a:prstGeom>
          <a:solidFill>
            <a:srgbClr val="2E6F4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212080"/>
            <a:ext cx="10607040" cy="868680"/>
          </a:xfrm>
          <a:prstGeom prst="rect">
            <a:avLst/>
          </a:prstGeom>
          <a:noFill/>
        </p:spPr>
        <p:txBody>
          <a:bodyPr wrap="square" anchor="ctr" lIns="0" rIns="0" tIns="0" bIns="0">
            <a:spAutoFit/>
          </a:bodyPr>
          <a:lstStyle/>
          <a:p>
            <a:pPr algn="l">
              <a:lnSpc>
                <a:spcPct val="110000"/>
              </a:lnSpc>
            </a:pPr>
            <a:r>
              <a:rPr sz="1700" b="0">
                <a:solidFill>
                  <a:srgbClr val="FFFFFF"/>
                </a:solidFill>
                <a:latin typeface="Archivo Black"/>
              </a:rPr>
              <a:t>Pregunta del proyecto: </a:t>
            </a:r>
            <a:r>
              <a:rPr sz="1700" b="0">
                <a:solidFill>
                  <a:srgbClr val="FFFFFF"/>
                </a:solidFill>
                <a:latin typeface="Space Grotesk"/>
              </a:rPr>
              <a:t>¿con qué error se estima la magnitud del daño por sequía desde una foto, cuando el modelo se evalúa en campos que nunca vio?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56032"/>
            <a:ext cx="384048" cy="384048"/>
          </a:xfrm>
          <a:prstGeom prst="rect">
            <a:avLst/>
          </a:prstGeom>
          <a:solidFill>
            <a:srgbClr val="2E6F40"/>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2406" y="302117"/>
            <a:ext cx="276515" cy="268834"/>
          </a:xfrm>
          <a:custGeom>
            <a:avLst/>
            <a:gdLst/>
            <a:ahLst/>
            <a:cxnLst/>
            <a:rect l="l" t="t" r="r" b="b"/>
            <a:pathLst>
              <a:path w="276515" h="268834">
                <a:moveTo>
                  <a:pt x="138258" y="268834"/>
                </a:moveTo>
                <a:lnTo>
                  <a:pt x="138258" y="80650"/>
                </a:lnTo>
                <a:lnTo>
                  <a:pt x="53767" y="30724"/>
                </a:lnTo>
                <a:lnTo>
                  <a:pt x="0" y="99853"/>
                </a:lnTo>
                <a:lnTo>
                  <a:pt x="138258" y="153619"/>
                </a:lnTo>
                <a:lnTo>
                  <a:pt x="138258" y="80650"/>
                </a:lnTo>
                <a:lnTo>
                  <a:pt x="238110" y="0"/>
                </a:lnTo>
                <a:lnTo>
                  <a:pt x="276515" y="80650"/>
                </a:lnTo>
                <a:lnTo>
                  <a:pt x="138258" y="126736"/>
                </a:lnTo>
                <a:lnTo>
                  <a:pt x="138258" y="268834"/>
                </a:lnTo>
              </a:path>
            </a:pathLst>
          </a:custGeom>
          <a:no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46888"/>
            <a:ext cx="3657600" cy="274320"/>
          </a:xfrm>
          <a:prstGeom prst="rect">
            <a:avLst/>
          </a:prstGeom>
          <a:noFill/>
        </p:spPr>
        <p:txBody>
          <a:bodyPr wrap="square" anchor="t" lIns="0" rIns="0" tIns="0" bIns="0">
            <a:spAutoFit/>
          </a:bodyPr>
          <a:lstStyle/>
          <a:p>
            <a:pPr algn="l">
              <a:lnSpc>
                <a:spcPct val="110000"/>
              </a:lnSpc>
            </a:pPr>
            <a:r>
              <a:rPr sz="1500" b="0">
                <a:solidFill>
                  <a:srgbClr val="000000"/>
                </a:solidFill>
                <a:latin typeface="Archivo Black"/>
              </a:rPr>
              <a:t>Ojos en el campo</a:t>
            </a:r>
          </a:p>
        </p:txBody>
      </p:sp>
      <p:sp>
        <p:nvSpPr>
          <p:cNvPr id="6" name="TextBox 5"/>
          <p:cNvSpPr txBox="1"/>
          <p:nvPr/>
        </p:nvSpPr>
        <p:spPr>
          <a:xfrm>
            <a:off x="1051560" y="484632"/>
            <a:ext cx="3657600" cy="228600"/>
          </a:xfrm>
          <a:prstGeom prst="rect">
            <a:avLst/>
          </a:prstGeom>
          <a:noFill/>
        </p:spPr>
        <p:txBody>
          <a:bodyPr wrap="square" anchor="t" lIns="0" rIns="0" tIns="0" bIns="0">
            <a:spAutoFit/>
          </a:bodyPr>
          <a:lstStyle/>
          <a:p>
            <a:pPr algn="l">
              <a:lnSpc>
                <a:spcPct val="110000"/>
              </a:lnSpc>
            </a:pPr>
            <a:r>
              <a:rPr sz="1050" b="0">
                <a:solidFill>
                  <a:srgbClr val="4A4A4A"/>
                </a:solidFill>
                <a:latin typeface="Space Grotesk"/>
              </a:rPr>
              <a:t>Daño por sequía en cultivos</a:t>
            </a:r>
          </a:p>
        </p:txBody>
      </p:sp>
      <p:sp>
        <p:nvSpPr>
          <p:cNvPr id="7" name="TextBox 6"/>
          <p:cNvSpPr txBox="1"/>
          <p:nvPr/>
        </p:nvSpPr>
        <p:spPr>
          <a:xfrm>
            <a:off x="8412480" y="329184"/>
            <a:ext cx="3246120" cy="274320"/>
          </a:xfrm>
          <a:prstGeom prst="rect">
            <a:avLst/>
          </a:prstGeom>
          <a:noFill/>
        </p:spPr>
        <p:txBody>
          <a:bodyPr wrap="square" anchor="t" lIns="0" rIns="0" tIns="0" bIns="0">
            <a:spAutoFit/>
          </a:bodyPr>
          <a:lstStyle/>
          <a:p>
            <a:pPr algn="r">
              <a:lnSpc>
                <a:spcPct val="110000"/>
              </a:lnSpc>
            </a:pPr>
            <a:r>
              <a:rPr sz="1200" b="0">
                <a:solidFill>
                  <a:srgbClr val="000000"/>
                </a:solidFill>
                <a:latin typeface="Archivo Black"/>
              </a:rPr>
              <a:t>03 / 12</a:t>
            </a:r>
          </a:p>
        </p:txBody>
      </p:sp>
      <p:sp>
        <p:nvSpPr>
          <p:cNvPr id="8" name="Rectangle 7"/>
          <p:cNvSpPr/>
          <p:nvPr/>
        </p:nvSpPr>
        <p:spPr>
          <a:xfrm>
            <a:off x="0" y="822960"/>
            <a:ext cx="12191695"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10528"/>
            <a:ext cx="12191695" cy="3474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83680"/>
            <a:ext cx="11064240" cy="228600"/>
          </a:xfrm>
          <a:prstGeom prst="rect">
            <a:avLst/>
          </a:prstGeom>
          <a:noFill/>
        </p:spPr>
        <p:txBody>
          <a:bodyPr wrap="square" anchor="t" lIns="0" rIns="0" tIns="0" bIns="0">
            <a:spAutoFit/>
          </a:bodyPr>
          <a:lstStyle/>
          <a:p>
            <a:pPr algn="ctr">
              <a:lnSpc>
                <a:spcPct val="110000"/>
              </a:lnSpc>
            </a:pPr>
            <a:r>
              <a:rPr sz="1050" b="0">
                <a:solidFill>
                  <a:srgbClr val="FFFFFF"/>
                </a:solidFill>
                <a:latin typeface="Space Grotesk"/>
              </a:rPr>
              <a:t>CC3084 Data Science  ·  CGIAR Eyes on the Ground  ·  Universidad del Valle de Guatemala</a:t>
            </a:r>
          </a:p>
        </p:txBody>
      </p:sp>
      <p:sp>
        <p:nvSpPr>
          <p:cNvPr id="11" name="Rectangle 10"/>
          <p:cNvSpPr/>
          <p:nvPr/>
        </p:nvSpPr>
        <p:spPr>
          <a:xfrm>
            <a:off x="594360" y="1143000"/>
            <a:ext cx="1636776"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097280"/>
            <a:ext cx="1636776" cy="310896"/>
          </a:xfrm>
          <a:prstGeom prst="rect">
            <a:avLst/>
          </a:prstGeom>
          <a:solidFill>
            <a:srgbClr val="C9A227"/>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097280"/>
            <a:ext cx="1636776" cy="310896"/>
          </a:xfrm>
          <a:prstGeom prst="rect">
            <a:avLst/>
          </a:prstGeom>
          <a:noFill/>
        </p:spPr>
        <p:txBody>
          <a:bodyPr wrap="square" anchor="ctr" lIns="0" rIns="0" tIns="0" bIns="0">
            <a:spAutoFit/>
          </a:bodyPr>
          <a:lstStyle/>
          <a:p>
            <a:pPr algn="ctr">
              <a:lnSpc>
                <a:spcPct val="110000"/>
              </a:lnSpc>
            </a:pPr>
            <a:r>
              <a:rPr sz="1100" b="0">
                <a:solidFill>
                  <a:srgbClr val="000000"/>
                </a:solidFill>
                <a:latin typeface="Archivo Black"/>
              </a:rPr>
              <a:t>02 · LOS DATOS</a:t>
            </a:r>
          </a:p>
        </p:txBody>
      </p:sp>
      <p:sp>
        <p:nvSpPr>
          <p:cNvPr id="14" name="TextBox 13"/>
          <p:cNvSpPr txBox="1"/>
          <p:nvPr/>
        </p:nvSpPr>
        <p:spPr>
          <a:xfrm>
            <a:off x="548640" y="1536192"/>
            <a:ext cx="11064240" cy="685800"/>
          </a:xfrm>
          <a:prstGeom prst="rect">
            <a:avLst/>
          </a:prstGeom>
          <a:noFill/>
        </p:spPr>
        <p:txBody>
          <a:bodyPr wrap="square" anchor="t" lIns="0" rIns="0" tIns="0" bIns="0">
            <a:spAutoFit/>
          </a:bodyPr>
          <a:lstStyle/>
          <a:p>
            <a:pPr algn="l">
              <a:lnSpc>
                <a:spcPct val="100000"/>
              </a:lnSpc>
            </a:pPr>
            <a:r>
              <a:rPr sz="3000" b="0">
                <a:solidFill>
                  <a:srgbClr val="000000"/>
                </a:solidFill>
                <a:latin typeface="Archivo Black"/>
              </a:rPr>
              <a:t>Tres hallazgos de los datos definieron el modelado</a:t>
            </a:r>
          </a:p>
        </p:txBody>
      </p:sp>
      <p:sp>
        <p:nvSpPr>
          <p:cNvPr id="15" name="TextBox 14"/>
          <p:cNvSpPr txBox="1"/>
          <p:nvPr/>
        </p:nvSpPr>
        <p:spPr>
          <a:xfrm>
            <a:off x="548640" y="2240280"/>
            <a:ext cx="11064240" cy="411480"/>
          </a:xfrm>
          <a:prstGeom prst="rect">
            <a:avLst/>
          </a:prstGeom>
          <a:noFill/>
        </p:spPr>
        <p:txBody>
          <a:bodyPr wrap="square" anchor="t" lIns="0" rIns="0" tIns="0" bIns="0">
            <a:spAutoFit/>
          </a:bodyPr>
          <a:lstStyle/>
          <a:p>
            <a:pPr algn="l">
              <a:lnSpc>
                <a:spcPct val="110000"/>
              </a:lnSpc>
            </a:pPr>
            <a:r>
              <a:rPr sz="1450" b="0">
                <a:solidFill>
                  <a:srgbClr val="4A4A4A"/>
                </a:solidFill>
                <a:latin typeface="Space Grotesk"/>
              </a:rPr>
              <a:t>Lo que encontramos en las 26 068 fotos antes de entrenar cualquier modelo.</a:t>
            </a:r>
          </a:p>
        </p:txBody>
      </p:sp>
      <p:sp>
        <p:nvSpPr>
          <p:cNvPr id="16" name="Rectangle 15"/>
          <p:cNvSpPr/>
          <p:nvPr/>
        </p:nvSpPr>
        <p:spPr>
          <a:xfrm>
            <a:off x="548640" y="2724912"/>
            <a:ext cx="11091672"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 y="3090672"/>
            <a:ext cx="5760720" cy="9601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20"/>
            <a:ext cx="5760720" cy="96012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20"/>
            <a:ext cx="502920" cy="960120"/>
          </a:xfrm>
          <a:prstGeom prst="rect">
            <a:avLst/>
          </a:prstGeom>
          <a:solidFill>
            <a:srgbClr val="C9A22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017520"/>
            <a:ext cx="502920" cy="960120"/>
          </a:xfrm>
          <a:prstGeom prst="rect">
            <a:avLst/>
          </a:prstGeom>
          <a:noFill/>
        </p:spPr>
        <p:txBody>
          <a:bodyPr wrap="square" anchor="ctr" lIns="0" rIns="0" tIns="0" bIns="0">
            <a:spAutoFit/>
          </a:bodyPr>
          <a:lstStyle/>
          <a:p>
            <a:pPr algn="ctr">
              <a:lnSpc>
                <a:spcPct val="110000"/>
              </a:lnSpc>
            </a:pPr>
            <a:r>
              <a:rPr sz="2000" b="0">
                <a:solidFill>
                  <a:srgbClr val="000000"/>
                </a:solidFill>
                <a:latin typeface="Archivo Black"/>
              </a:rPr>
              <a:t>1</a:t>
            </a:r>
          </a:p>
        </p:txBody>
      </p:sp>
      <p:sp>
        <p:nvSpPr>
          <p:cNvPr id="21" name="TextBox 20"/>
          <p:cNvSpPr txBox="1"/>
          <p:nvPr/>
        </p:nvSpPr>
        <p:spPr>
          <a:xfrm>
            <a:off x="1234440" y="3127248"/>
            <a:ext cx="4937760" cy="365760"/>
          </a:xfrm>
          <a:prstGeom prst="rect">
            <a:avLst/>
          </a:prstGeom>
          <a:noFill/>
        </p:spPr>
        <p:txBody>
          <a:bodyPr wrap="square" anchor="t" lIns="0" rIns="0" tIns="0" bIns="0">
            <a:spAutoFit/>
          </a:bodyPr>
          <a:lstStyle/>
          <a:p>
            <a:pPr algn="l">
              <a:lnSpc>
                <a:spcPct val="110000"/>
              </a:lnSpc>
            </a:pPr>
            <a:r>
              <a:rPr sz="1700" b="0">
                <a:solidFill>
                  <a:srgbClr val="000000"/>
                </a:solidFill>
                <a:latin typeface="Archivo Black"/>
              </a:rPr>
              <a:t>Solo la sequía tiene magnitud</a:t>
            </a:r>
          </a:p>
        </p:txBody>
      </p:sp>
      <p:sp>
        <p:nvSpPr>
          <p:cNvPr id="22" name="TextBox 21"/>
          <p:cNvSpPr txBox="1"/>
          <p:nvPr/>
        </p:nvSpPr>
        <p:spPr>
          <a:xfrm>
            <a:off x="1234440" y="3493008"/>
            <a:ext cx="4937760" cy="457200"/>
          </a:xfrm>
          <a:prstGeom prst="rect">
            <a:avLst/>
          </a:prstGeom>
          <a:noFill/>
        </p:spPr>
        <p:txBody>
          <a:bodyPr wrap="square" anchor="t" lIns="0" rIns="0" tIns="0" bIns="0">
            <a:spAutoFit/>
          </a:bodyPr>
          <a:lstStyle/>
          <a:p>
            <a:pPr algn="l">
              <a:lnSpc>
                <a:spcPct val="110000"/>
              </a:lnSpc>
            </a:pPr>
            <a:r>
              <a:rPr sz="1250" b="0">
                <a:solidFill>
                  <a:srgbClr val="4A4A4A"/>
                </a:solidFill>
                <a:latin typeface="Space Grotesk"/>
              </a:rPr>
              <a:t>Los otros siete diagnósticos valen siempre 0, así que estimamos la severidad solo dentro de la sequía.</a:t>
            </a:r>
          </a:p>
        </p:txBody>
      </p:sp>
      <p:sp>
        <p:nvSpPr>
          <p:cNvPr id="23" name="Rectangle 22"/>
          <p:cNvSpPr/>
          <p:nvPr/>
        </p:nvSpPr>
        <p:spPr>
          <a:xfrm>
            <a:off x="621792" y="4233672"/>
            <a:ext cx="5760720" cy="9601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160520"/>
            <a:ext cx="5760720" cy="96012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60520"/>
            <a:ext cx="502920" cy="960120"/>
          </a:xfrm>
          <a:prstGeom prst="rect">
            <a:avLst/>
          </a:prstGeom>
          <a:solidFill>
            <a:srgbClr val="C9A22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160520"/>
            <a:ext cx="502920" cy="960120"/>
          </a:xfrm>
          <a:prstGeom prst="rect">
            <a:avLst/>
          </a:prstGeom>
          <a:noFill/>
        </p:spPr>
        <p:txBody>
          <a:bodyPr wrap="square" anchor="ctr" lIns="0" rIns="0" tIns="0" bIns="0">
            <a:spAutoFit/>
          </a:bodyPr>
          <a:lstStyle/>
          <a:p>
            <a:pPr algn="ctr">
              <a:lnSpc>
                <a:spcPct val="110000"/>
              </a:lnSpc>
            </a:pPr>
            <a:r>
              <a:rPr sz="2000" b="0">
                <a:solidFill>
                  <a:srgbClr val="000000"/>
                </a:solidFill>
                <a:latin typeface="Archivo Black"/>
              </a:rPr>
              <a:t>2</a:t>
            </a:r>
          </a:p>
        </p:txBody>
      </p:sp>
      <p:sp>
        <p:nvSpPr>
          <p:cNvPr id="27" name="TextBox 26"/>
          <p:cNvSpPr txBox="1"/>
          <p:nvPr/>
        </p:nvSpPr>
        <p:spPr>
          <a:xfrm>
            <a:off x="1234440" y="4270248"/>
            <a:ext cx="4937760" cy="365760"/>
          </a:xfrm>
          <a:prstGeom prst="rect">
            <a:avLst/>
          </a:prstGeom>
          <a:noFill/>
        </p:spPr>
        <p:txBody>
          <a:bodyPr wrap="square" anchor="t" lIns="0" rIns="0" tIns="0" bIns="0">
            <a:spAutoFit/>
          </a:bodyPr>
          <a:lstStyle/>
          <a:p>
            <a:pPr algn="l">
              <a:lnSpc>
                <a:spcPct val="110000"/>
              </a:lnSpc>
            </a:pPr>
            <a:r>
              <a:rPr sz="2200" b="0">
                <a:solidFill>
                  <a:srgbClr val="000000"/>
                </a:solidFill>
                <a:latin typeface="Archivo Black"/>
              </a:rPr>
              <a:t>87.9 %</a:t>
            </a:r>
          </a:p>
        </p:txBody>
      </p:sp>
      <p:sp>
        <p:nvSpPr>
          <p:cNvPr id="28" name="TextBox 27"/>
          <p:cNvSpPr txBox="1"/>
          <p:nvPr/>
        </p:nvSpPr>
        <p:spPr>
          <a:xfrm>
            <a:off x="1234440" y="4636008"/>
            <a:ext cx="4937760" cy="457200"/>
          </a:xfrm>
          <a:prstGeom prst="rect">
            <a:avLst/>
          </a:prstGeom>
          <a:noFill/>
        </p:spPr>
        <p:txBody>
          <a:bodyPr wrap="square" anchor="t" lIns="0" rIns="0" tIns="0" bIns="0">
            <a:spAutoFit/>
          </a:bodyPr>
          <a:lstStyle/>
          <a:p>
            <a:pPr algn="l">
              <a:lnSpc>
                <a:spcPct val="110000"/>
              </a:lnSpc>
            </a:pPr>
            <a:r>
              <a:rPr sz="1250" b="0">
                <a:solidFill>
                  <a:srgbClr val="4A4A4A"/>
                </a:solidFill>
                <a:latin typeface="Space Grotesk"/>
              </a:rPr>
              <a:t>de una validación aleatoria cae en campos que ya estaban en el entrenamiento: hay que separar por campo.</a:t>
            </a:r>
          </a:p>
        </p:txBody>
      </p:sp>
      <p:sp>
        <p:nvSpPr>
          <p:cNvPr id="29" name="Rectangle 28"/>
          <p:cNvSpPr/>
          <p:nvPr/>
        </p:nvSpPr>
        <p:spPr>
          <a:xfrm>
            <a:off x="621792" y="5376672"/>
            <a:ext cx="5760720" cy="9601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303520"/>
            <a:ext cx="5760720" cy="96012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303520"/>
            <a:ext cx="502920" cy="960120"/>
          </a:xfrm>
          <a:prstGeom prst="rect">
            <a:avLst/>
          </a:prstGeom>
          <a:solidFill>
            <a:srgbClr val="C9A22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303520"/>
            <a:ext cx="502920" cy="960120"/>
          </a:xfrm>
          <a:prstGeom prst="rect">
            <a:avLst/>
          </a:prstGeom>
          <a:noFill/>
        </p:spPr>
        <p:txBody>
          <a:bodyPr wrap="square" anchor="ctr" lIns="0" rIns="0" tIns="0" bIns="0">
            <a:spAutoFit/>
          </a:bodyPr>
          <a:lstStyle/>
          <a:p>
            <a:pPr algn="ctr">
              <a:lnSpc>
                <a:spcPct val="110000"/>
              </a:lnSpc>
            </a:pPr>
            <a:r>
              <a:rPr sz="2000" b="0">
                <a:solidFill>
                  <a:srgbClr val="000000"/>
                </a:solidFill>
                <a:latin typeface="Archivo Black"/>
              </a:rPr>
              <a:t>3</a:t>
            </a:r>
          </a:p>
        </p:txBody>
      </p:sp>
      <p:sp>
        <p:nvSpPr>
          <p:cNvPr id="33" name="TextBox 32"/>
          <p:cNvSpPr txBox="1"/>
          <p:nvPr/>
        </p:nvSpPr>
        <p:spPr>
          <a:xfrm>
            <a:off x="1234440" y="5413248"/>
            <a:ext cx="4937760" cy="365760"/>
          </a:xfrm>
          <a:prstGeom prst="rect">
            <a:avLst/>
          </a:prstGeom>
          <a:noFill/>
        </p:spPr>
        <p:txBody>
          <a:bodyPr wrap="square" anchor="t" lIns="0" rIns="0" tIns="0" bIns="0">
            <a:spAutoFit/>
          </a:bodyPr>
          <a:lstStyle/>
          <a:p>
            <a:pPr algn="l">
              <a:lnSpc>
                <a:spcPct val="110000"/>
              </a:lnSpc>
            </a:pPr>
            <a:r>
              <a:rPr sz="2200" b="0">
                <a:solidFill>
                  <a:srgbClr val="000000"/>
                </a:solidFill>
                <a:latin typeface="Archivo Black"/>
              </a:rPr>
              <a:t>37.6 %</a:t>
            </a:r>
          </a:p>
        </p:txBody>
      </p:sp>
      <p:sp>
        <p:nvSpPr>
          <p:cNvPr id="34" name="TextBox 33"/>
          <p:cNvSpPr txBox="1"/>
          <p:nvPr/>
        </p:nvSpPr>
        <p:spPr>
          <a:xfrm>
            <a:off x="1234440" y="5779008"/>
            <a:ext cx="4937760" cy="457200"/>
          </a:xfrm>
          <a:prstGeom prst="rect">
            <a:avLst/>
          </a:prstGeom>
          <a:noFill/>
        </p:spPr>
        <p:txBody>
          <a:bodyPr wrap="square" anchor="t" lIns="0" rIns="0" tIns="0" bIns="0">
            <a:spAutoFit/>
          </a:bodyPr>
          <a:lstStyle/>
          <a:p>
            <a:pPr algn="l">
              <a:lnSpc>
                <a:spcPct val="110000"/>
              </a:lnSpc>
            </a:pPr>
            <a:r>
              <a:rPr sz="1250" b="0">
                <a:solidFill>
                  <a:srgbClr val="4A4A4A"/>
                </a:solidFill>
                <a:latin typeface="Space Grotesk"/>
              </a:rPr>
              <a:t>de las fotos de SR2021 supera 5 megapíxeles; en LR2020 y SR2020 todas medían 640 × 480.</a:t>
            </a:r>
          </a:p>
        </p:txBody>
      </p:sp>
      <p:sp>
        <p:nvSpPr>
          <p:cNvPr id="35" name="Rectangle 34"/>
          <p:cNvSpPr/>
          <p:nvPr/>
        </p:nvSpPr>
        <p:spPr>
          <a:xfrm>
            <a:off x="6748272" y="3090672"/>
            <a:ext cx="4965192" cy="32461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675120" y="3017520"/>
            <a:ext cx="4965192" cy="324612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severidad_temporada.png"/>
          <p:cNvPicPr>
            <a:picLocks noChangeAspect="1"/>
          </p:cNvPicPr>
          <p:nvPr/>
        </p:nvPicPr>
        <p:blipFill>
          <a:blip r:embed="rId2"/>
          <a:stretch>
            <a:fillRect/>
          </a:stretch>
        </p:blipFill>
        <p:spPr>
          <a:xfrm>
            <a:off x="7049036" y="3154679"/>
            <a:ext cx="4217359" cy="2971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56032"/>
            <a:ext cx="384048" cy="384048"/>
          </a:xfrm>
          <a:prstGeom prst="rect">
            <a:avLst/>
          </a:prstGeom>
          <a:solidFill>
            <a:srgbClr val="2E6F40"/>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2406" y="302117"/>
            <a:ext cx="276515" cy="268834"/>
          </a:xfrm>
          <a:custGeom>
            <a:avLst/>
            <a:gdLst/>
            <a:ahLst/>
            <a:cxnLst/>
            <a:rect l="l" t="t" r="r" b="b"/>
            <a:pathLst>
              <a:path w="276515" h="268834">
                <a:moveTo>
                  <a:pt x="138258" y="268834"/>
                </a:moveTo>
                <a:lnTo>
                  <a:pt x="138258" y="80650"/>
                </a:lnTo>
                <a:lnTo>
                  <a:pt x="53767" y="30724"/>
                </a:lnTo>
                <a:lnTo>
                  <a:pt x="0" y="99853"/>
                </a:lnTo>
                <a:lnTo>
                  <a:pt x="138258" y="153619"/>
                </a:lnTo>
                <a:lnTo>
                  <a:pt x="138258" y="80650"/>
                </a:lnTo>
                <a:lnTo>
                  <a:pt x="238110" y="0"/>
                </a:lnTo>
                <a:lnTo>
                  <a:pt x="276515" y="80650"/>
                </a:lnTo>
                <a:lnTo>
                  <a:pt x="138258" y="126736"/>
                </a:lnTo>
                <a:lnTo>
                  <a:pt x="138258" y="268834"/>
                </a:lnTo>
              </a:path>
            </a:pathLst>
          </a:custGeom>
          <a:no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46888"/>
            <a:ext cx="3657600" cy="274320"/>
          </a:xfrm>
          <a:prstGeom prst="rect">
            <a:avLst/>
          </a:prstGeom>
          <a:noFill/>
        </p:spPr>
        <p:txBody>
          <a:bodyPr wrap="square" anchor="t" lIns="0" rIns="0" tIns="0" bIns="0">
            <a:spAutoFit/>
          </a:bodyPr>
          <a:lstStyle/>
          <a:p>
            <a:pPr algn="l">
              <a:lnSpc>
                <a:spcPct val="110000"/>
              </a:lnSpc>
            </a:pPr>
            <a:r>
              <a:rPr sz="1500" b="0">
                <a:solidFill>
                  <a:srgbClr val="000000"/>
                </a:solidFill>
                <a:latin typeface="Archivo Black"/>
              </a:rPr>
              <a:t>Ojos en el campo</a:t>
            </a:r>
          </a:p>
        </p:txBody>
      </p:sp>
      <p:sp>
        <p:nvSpPr>
          <p:cNvPr id="6" name="TextBox 5"/>
          <p:cNvSpPr txBox="1"/>
          <p:nvPr/>
        </p:nvSpPr>
        <p:spPr>
          <a:xfrm>
            <a:off x="1051560" y="484632"/>
            <a:ext cx="3657600" cy="228600"/>
          </a:xfrm>
          <a:prstGeom prst="rect">
            <a:avLst/>
          </a:prstGeom>
          <a:noFill/>
        </p:spPr>
        <p:txBody>
          <a:bodyPr wrap="square" anchor="t" lIns="0" rIns="0" tIns="0" bIns="0">
            <a:spAutoFit/>
          </a:bodyPr>
          <a:lstStyle/>
          <a:p>
            <a:pPr algn="l">
              <a:lnSpc>
                <a:spcPct val="110000"/>
              </a:lnSpc>
            </a:pPr>
            <a:r>
              <a:rPr sz="1050" b="0">
                <a:solidFill>
                  <a:srgbClr val="4A4A4A"/>
                </a:solidFill>
                <a:latin typeface="Space Grotesk"/>
              </a:rPr>
              <a:t>Daño por sequía en cultivos</a:t>
            </a:r>
          </a:p>
        </p:txBody>
      </p:sp>
      <p:sp>
        <p:nvSpPr>
          <p:cNvPr id="7" name="TextBox 6"/>
          <p:cNvSpPr txBox="1"/>
          <p:nvPr/>
        </p:nvSpPr>
        <p:spPr>
          <a:xfrm>
            <a:off x="8412480" y="329184"/>
            <a:ext cx="3246120" cy="274320"/>
          </a:xfrm>
          <a:prstGeom prst="rect">
            <a:avLst/>
          </a:prstGeom>
          <a:noFill/>
        </p:spPr>
        <p:txBody>
          <a:bodyPr wrap="square" anchor="t" lIns="0" rIns="0" tIns="0" bIns="0">
            <a:spAutoFit/>
          </a:bodyPr>
          <a:lstStyle/>
          <a:p>
            <a:pPr algn="r">
              <a:lnSpc>
                <a:spcPct val="110000"/>
              </a:lnSpc>
            </a:pPr>
            <a:r>
              <a:rPr sz="1200" b="0">
                <a:solidFill>
                  <a:srgbClr val="000000"/>
                </a:solidFill>
                <a:latin typeface="Archivo Black"/>
              </a:rPr>
              <a:t>04 / 12</a:t>
            </a:r>
          </a:p>
        </p:txBody>
      </p:sp>
      <p:sp>
        <p:nvSpPr>
          <p:cNvPr id="8" name="Rectangle 7"/>
          <p:cNvSpPr/>
          <p:nvPr/>
        </p:nvSpPr>
        <p:spPr>
          <a:xfrm>
            <a:off x="0" y="822960"/>
            <a:ext cx="12191695"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10528"/>
            <a:ext cx="12191695" cy="3474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83680"/>
            <a:ext cx="11064240" cy="228600"/>
          </a:xfrm>
          <a:prstGeom prst="rect">
            <a:avLst/>
          </a:prstGeom>
          <a:noFill/>
        </p:spPr>
        <p:txBody>
          <a:bodyPr wrap="square" anchor="t" lIns="0" rIns="0" tIns="0" bIns="0">
            <a:spAutoFit/>
          </a:bodyPr>
          <a:lstStyle/>
          <a:p>
            <a:pPr algn="ctr">
              <a:lnSpc>
                <a:spcPct val="110000"/>
              </a:lnSpc>
            </a:pPr>
            <a:r>
              <a:rPr sz="1050" b="0">
                <a:solidFill>
                  <a:srgbClr val="FFFFFF"/>
                </a:solidFill>
                <a:latin typeface="Space Grotesk"/>
              </a:rPr>
              <a:t>CC3084 Data Science  ·  CGIAR Eyes on the Ground  ·  Universidad del Valle de Guatemala</a:t>
            </a:r>
          </a:p>
        </p:txBody>
      </p:sp>
      <p:sp>
        <p:nvSpPr>
          <p:cNvPr id="11" name="Rectangle 10"/>
          <p:cNvSpPr/>
          <p:nvPr/>
        </p:nvSpPr>
        <p:spPr>
          <a:xfrm>
            <a:off x="594360" y="1143000"/>
            <a:ext cx="2116836"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097280"/>
            <a:ext cx="2116836" cy="310896"/>
          </a:xfrm>
          <a:prstGeom prst="rect">
            <a:avLst/>
          </a:prstGeom>
          <a:solidFill>
            <a:srgbClr val="C9A227"/>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097280"/>
            <a:ext cx="2116836" cy="310896"/>
          </a:xfrm>
          <a:prstGeom prst="rect">
            <a:avLst/>
          </a:prstGeom>
          <a:noFill/>
        </p:spPr>
        <p:txBody>
          <a:bodyPr wrap="square" anchor="ctr" lIns="0" rIns="0" tIns="0" bIns="0">
            <a:spAutoFit/>
          </a:bodyPr>
          <a:lstStyle/>
          <a:p>
            <a:pPr algn="ctr">
              <a:lnSpc>
                <a:spcPct val="110000"/>
              </a:lnSpc>
            </a:pPr>
            <a:r>
              <a:rPr sz="1100" b="0">
                <a:solidFill>
                  <a:srgbClr val="000000"/>
                </a:solidFill>
                <a:latin typeface="Archivo Black"/>
              </a:rPr>
              <a:t>03 · CÓMO EVALUAMOS</a:t>
            </a:r>
          </a:p>
        </p:txBody>
      </p:sp>
      <p:sp>
        <p:nvSpPr>
          <p:cNvPr id="14" name="TextBox 13"/>
          <p:cNvSpPr txBox="1"/>
          <p:nvPr/>
        </p:nvSpPr>
        <p:spPr>
          <a:xfrm>
            <a:off x="548640" y="1536192"/>
            <a:ext cx="11064240" cy="685800"/>
          </a:xfrm>
          <a:prstGeom prst="rect">
            <a:avLst/>
          </a:prstGeom>
          <a:noFill/>
        </p:spPr>
        <p:txBody>
          <a:bodyPr wrap="square" anchor="t" lIns="0" rIns="0" tIns="0" bIns="0">
            <a:spAutoFit/>
          </a:bodyPr>
          <a:lstStyle/>
          <a:p>
            <a:pPr algn="l">
              <a:lnSpc>
                <a:spcPct val="100000"/>
              </a:lnSpc>
            </a:pPr>
            <a:r>
              <a:rPr sz="3000" b="0">
                <a:solidFill>
                  <a:srgbClr val="000000"/>
                </a:solidFill>
                <a:latin typeface="Archivo Black"/>
              </a:rPr>
              <a:t>Evaluamos en campos que ningún modelo vio</a:t>
            </a:r>
          </a:p>
        </p:txBody>
      </p:sp>
      <p:sp>
        <p:nvSpPr>
          <p:cNvPr id="15" name="TextBox 14"/>
          <p:cNvSpPr txBox="1"/>
          <p:nvPr/>
        </p:nvSpPr>
        <p:spPr>
          <a:xfrm>
            <a:off x="548640" y="2240280"/>
            <a:ext cx="11064240" cy="411480"/>
          </a:xfrm>
          <a:prstGeom prst="rect">
            <a:avLst/>
          </a:prstGeom>
          <a:noFill/>
        </p:spPr>
        <p:txBody>
          <a:bodyPr wrap="square" anchor="t" lIns="0" rIns="0" tIns="0" bIns="0">
            <a:spAutoFit/>
          </a:bodyPr>
          <a:lstStyle/>
          <a:p>
            <a:pPr algn="l">
              <a:lnSpc>
                <a:spcPct val="110000"/>
              </a:lnSpc>
            </a:pPr>
            <a:r>
              <a:rPr sz="1450" b="0">
                <a:solidFill>
                  <a:srgbClr val="4A4A4A"/>
                </a:solidFill>
                <a:latin typeface="Space Grotesk"/>
              </a:rPr>
              <a:t>Partición agrupada por campo, con la misma semilla para todo el equipo.</a:t>
            </a:r>
          </a:p>
        </p:txBody>
      </p:sp>
      <p:sp>
        <p:nvSpPr>
          <p:cNvPr id="16" name="Rectangle 15"/>
          <p:cNvSpPr/>
          <p:nvPr/>
        </p:nvSpPr>
        <p:spPr>
          <a:xfrm>
            <a:off x="548640" y="2724912"/>
            <a:ext cx="11091672"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 y="3227832"/>
            <a:ext cx="2468880" cy="14173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154680"/>
            <a:ext cx="2468880" cy="141732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291840"/>
            <a:ext cx="2103120" cy="548640"/>
          </a:xfrm>
          <a:prstGeom prst="rect">
            <a:avLst/>
          </a:prstGeom>
          <a:noFill/>
        </p:spPr>
        <p:txBody>
          <a:bodyPr wrap="square" anchor="t" lIns="0" rIns="0" tIns="0" bIns="0">
            <a:spAutoFit/>
          </a:bodyPr>
          <a:lstStyle/>
          <a:p>
            <a:pPr algn="l">
              <a:lnSpc>
                <a:spcPct val="110000"/>
              </a:lnSpc>
            </a:pPr>
            <a:r>
              <a:rPr sz="3000" b="0">
                <a:solidFill>
                  <a:srgbClr val="000000"/>
                </a:solidFill>
                <a:latin typeface="Archivo Black"/>
              </a:rPr>
              <a:t>23 350</a:t>
            </a:r>
          </a:p>
        </p:txBody>
      </p:sp>
      <p:sp>
        <p:nvSpPr>
          <p:cNvPr id="20" name="TextBox 19"/>
          <p:cNvSpPr txBox="1"/>
          <p:nvPr/>
        </p:nvSpPr>
        <p:spPr>
          <a:xfrm>
            <a:off x="731520" y="3886200"/>
            <a:ext cx="2103120" cy="548640"/>
          </a:xfrm>
          <a:prstGeom prst="rect">
            <a:avLst/>
          </a:prstGeom>
          <a:noFill/>
        </p:spPr>
        <p:txBody>
          <a:bodyPr wrap="square" anchor="t" lIns="0" rIns="0" tIns="0" bIns="0">
            <a:spAutoFit/>
          </a:bodyPr>
          <a:lstStyle/>
          <a:p>
            <a:pPr algn="l">
              <a:lnSpc>
                <a:spcPct val="110000"/>
              </a:lnSpc>
            </a:pPr>
            <a:r>
              <a:rPr sz="1300" b="0">
                <a:solidFill>
                  <a:srgbClr val="4A4A4A"/>
                </a:solidFill>
                <a:latin typeface="Space Grotesk"/>
              </a:rPr>
              <a:t>fotos aptas de 3 051 campos</a:t>
            </a:r>
          </a:p>
        </p:txBody>
      </p:sp>
      <p:sp>
        <p:nvSpPr>
          <p:cNvPr id="21" name="Rectangle 20"/>
          <p:cNvSpPr/>
          <p:nvPr/>
        </p:nvSpPr>
        <p:spPr>
          <a:xfrm>
            <a:off x="3410712" y="3227832"/>
            <a:ext cx="2468880" cy="14173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37560" y="3154680"/>
            <a:ext cx="2468880" cy="141732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20440" y="3291840"/>
            <a:ext cx="2103120" cy="548640"/>
          </a:xfrm>
          <a:prstGeom prst="rect">
            <a:avLst/>
          </a:prstGeom>
          <a:noFill/>
        </p:spPr>
        <p:txBody>
          <a:bodyPr wrap="square" anchor="t" lIns="0" rIns="0" tIns="0" bIns="0">
            <a:spAutoFit/>
          </a:bodyPr>
          <a:lstStyle/>
          <a:p>
            <a:pPr algn="l">
              <a:lnSpc>
                <a:spcPct val="110000"/>
              </a:lnSpc>
            </a:pPr>
            <a:r>
              <a:rPr sz="3000" b="0">
                <a:solidFill>
                  <a:srgbClr val="000000"/>
                </a:solidFill>
                <a:latin typeface="Archivo Black"/>
              </a:rPr>
              <a:t>4 489</a:t>
            </a:r>
          </a:p>
        </p:txBody>
      </p:sp>
      <p:sp>
        <p:nvSpPr>
          <p:cNvPr id="24" name="TextBox 23"/>
          <p:cNvSpPr txBox="1"/>
          <p:nvPr/>
        </p:nvSpPr>
        <p:spPr>
          <a:xfrm>
            <a:off x="3520440" y="3886200"/>
            <a:ext cx="2103120" cy="548640"/>
          </a:xfrm>
          <a:prstGeom prst="rect">
            <a:avLst/>
          </a:prstGeom>
          <a:noFill/>
        </p:spPr>
        <p:txBody>
          <a:bodyPr wrap="square" anchor="t" lIns="0" rIns="0" tIns="0" bIns="0">
            <a:spAutoFit/>
          </a:bodyPr>
          <a:lstStyle/>
          <a:p>
            <a:pPr algn="l">
              <a:lnSpc>
                <a:spcPct val="110000"/>
              </a:lnSpc>
            </a:pPr>
            <a:r>
              <a:rPr sz="1300" b="0">
                <a:solidFill>
                  <a:srgbClr val="4A4A4A"/>
                </a:solidFill>
                <a:latin typeface="Space Grotesk"/>
              </a:rPr>
              <a:t>con diagnóstico de sequía</a:t>
            </a:r>
          </a:p>
        </p:txBody>
      </p:sp>
      <p:sp>
        <p:nvSpPr>
          <p:cNvPr id="25" name="TextBox 24"/>
          <p:cNvSpPr txBox="1"/>
          <p:nvPr/>
        </p:nvSpPr>
        <p:spPr>
          <a:xfrm>
            <a:off x="3044952" y="3520440"/>
            <a:ext cx="274320" cy="548640"/>
          </a:xfrm>
          <a:prstGeom prst="rect">
            <a:avLst/>
          </a:prstGeom>
          <a:noFill/>
        </p:spPr>
        <p:txBody>
          <a:bodyPr wrap="square" anchor="t" lIns="0" rIns="0" tIns="0" bIns="0">
            <a:spAutoFit/>
          </a:bodyPr>
          <a:lstStyle/>
          <a:p>
            <a:pPr algn="ctr">
              <a:lnSpc>
                <a:spcPct val="110000"/>
              </a:lnSpc>
            </a:pPr>
            <a:r>
              <a:rPr sz="2600" b="0">
                <a:solidFill>
                  <a:srgbClr val="000000"/>
                </a:solidFill>
                <a:latin typeface="Archivo Black"/>
              </a:rPr>
              <a:t>→</a:t>
            </a:r>
          </a:p>
        </p:txBody>
      </p:sp>
      <p:sp>
        <p:nvSpPr>
          <p:cNvPr id="26" name="TextBox 25"/>
          <p:cNvSpPr txBox="1"/>
          <p:nvPr/>
        </p:nvSpPr>
        <p:spPr>
          <a:xfrm>
            <a:off x="5833872" y="3520440"/>
            <a:ext cx="274320" cy="548640"/>
          </a:xfrm>
          <a:prstGeom prst="rect">
            <a:avLst/>
          </a:prstGeom>
          <a:noFill/>
        </p:spPr>
        <p:txBody>
          <a:bodyPr wrap="square" anchor="t" lIns="0" rIns="0" tIns="0" bIns="0">
            <a:spAutoFit/>
          </a:bodyPr>
          <a:lstStyle/>
          <a:p>
            <a:pPr algn="ctr">
              <a:lnSpc>
                <a:spcPct val="110000"/>
              </a:lnSpc>
            </a:pPr>
            <a:r>
              <a:rPr sz="2600" b="0">
                <a:solidFill>
                  <a:srgbClr val="000000"/>
                </a:solidFill>
                <a:latin typeface="Archivo Black"/>
              </a:rPr>
              <a:t>→</a:t>
            </a:r>
          </a:p>
        </p:txBody>
      </p:sp>
      <p:sp>
        <p:nvSpPr>
          <p:cNvPr id="27" name="Rectangle 26"/>
          <p:cNvSpPr/>
          <p:nvPr/>
        </p:nvSpPr>
        <p:spPr>
          <a:xfrm>
            <a:off x="6199632" y="3090672"/>
            <a:ext cx="2560320"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26480" y="3017520"/>
            <a:ext cx="2560320" cy="914400"/>
          </a:xfrm>
          <a:prstGeom prst="rect">
            <a:avLst/>
          </a:prstGeom>
          <a:solidFill>
            <a:srgbClr val="EDE1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3090672"/>
            <a:ext cx="2286000" cy="822960"/>
          </a:xfrm>
          <a:prstGeom prst="rect">
            <a:avLst/>
          </a:prstGeom>
          <a:noFill/>
        </p:spPr>
        <p:txBody>
          <a:bodyPr wrap="square" anchor="t" lIns="0" rIns="0" tIns="0" bIns="0">
            <a:spAutoFit/>
          </a:bodyPr>
          <a:lstStyle/>
          <a:p>
            <a:pPr algn="l">
              <a:lnSpc>
                <a:spcPct val="110000"/>
              </a:lnSpc>
            </a:pPr>
            <a:r>
              <a:rPr sz="1400" b="0">
                <a:solidFill>
                  <a:srgbClr val="000000"/>
                </a:solidFill>
                <a:latin typeface="Archivo Black"/>
              </a:rPr>
              <a:t>Entrenamiento</a:t>
            </a:r>
          </a:p>
          <a:p>
            <a:pPr algn="l">
              <a:lnSpc>
                <a:spcPct val="110000"/>
              </a:lnSpc>
            </a:pPr>
            <a:r>
              <a:rPr sz="1300" b="0">
                <a:solidFill>
                  <a:srgbClr val="000000"/>
                </a:solidFill>
                <a:latin typeface="Space Grotesk"/>
              </a:rPr>
              <a:t>3 655 fotos  ·  1 453 campos</a:t>
            </a:r>
          </a:p>
        </p:txBody>
      </p:sp>
      <p:sp>
        <p:nvSpPr>
          <p:cNvPr id="30" name="Rectangle 29"/>
          <p:cNvSpPr/>
          <p:nvPr/>
        </p:nvSpPr>
        <p:spPr>
          <a:xfrm>
            <a:off x="6199632" y="4142232"/>
            <a:ext cx="2560320"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26480" y="4069080"/>
            <a:ext cx="2560320" cy="914400"/>
          </a:xfrm>
          <a:prstGeom prst="rect">
            <a:avLst/>
          </a:prstGeom>
          <a:solidFill>
            <a:srgbClr val="2E6F4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0" y="4142232"/>
            <a:ext cx="2286000" cy="822960"/>
          </a:xfrm>
          <a:prstGeom prst="rect">
            <a:avLst/>
          </a:prstGeom>
          <a:noFill/>
        </p:spPr>
        <p:txBody>
          <a:bodyPr wrap="square" anchor="t" lIns="0" rIns="0" tIns="0" bIns="0">
            <a:spAutoFit/>
          </a:bodyPr>
          <a:lstStyle/>
          <a:p>
            <a:pPr algn="l">
              <a:lnSpc>
                <a:spcPct val="110000"/>
              </a:lnSpc>
            </a:pPr>
            <a:r>
              <a:rPr sz="1400" b="0">
                <a:solidFill>
                  <a:srgbClr val="FFFFFF"/>
                </a:solidFill>
                <a:latin typeface="Archivo Black"/>
              </a:rPr>
              <a:t>Prueba</a:t>
            </a:r>
          </a:p>
          <a:p>
            <a:pPr algn="l">
              <a:lnSpc>
                <a:spcPct val="110000"/>
              </a:lnSpc>
            </a:pPr>
            <a:r>
              <a:rPr sz="1300" b="0">
                <a:solidFill>
                  <a:srgbClr val="FFFFFF"/>
                </a:solidFill>
                <a:latin typeface="Space Grotesk"/>
              </a:rPr>
              <a:t>834 fotos  ·  358 campos</a:t>
            </a:r>
          </a:p>
        </p:txBody>
      </p:sp>
      <p:sp>
        <p:nvSpPr>
          <p:cNvPr id="33" name="Rectangle 32"/>
          <p:cNvSpPr/>
          <p:nvPr/>
        </p:nvSpPr>
        <p:spPr>
          <a:xfrm>
            <a:off x="9125712" y="3090672"/>
            <a:ext cx="2587752" cy="19659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052560" y="3017520"/>
            <a:ext cx="2587752" cy="196596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35440" y="3154680"/>
            <a:ext cx="2240280" cy="1828800"/>
          </a:xfrm>
          <a:prstGeom prst="rect">
            <a:avLst/>
          </a:prstGeom>
          <a:noFill/>
        </p:spPr>
        <p:txBody>
          <a:bodyPr wrap="square" anchor="t" lIns="0" rIns="0" tIns="0" bIns="0">
            <a:spAutoFit/>
          </a:bodyPr>
          <a:lstStyle/>
          <a:p>
            <a:pPr algn="l">
              <a:lnSpc>
                <a:spcPct val="110000"/>
              </a:lnSpc>
            </a:pPr>
            <a:r>
              <a:rPr sz="1400" b="0">
                <a:solidFill>
                  <a:srgbClr val="000000"/>
                </a:solidFill>
                <a:latin typeface="Archivo Black"/>
              </a:rPr>
              <a:t>Separación por campo</a:t>
            </a:r>
          </a:p>
          <a:p>
            <a:pPr algn="l">
              <a:lnSpc>
                <a:spcPct val="110000"/>
              </a:lnSpc>
            </a:pPr>
            <a:r>
              <a:rPr sz="1250" b="0">
                <a:solidFill>
                  <a:srgbClr val="4A4A4A"/>
                </a:solidFill>
                <a:latin typeface="Space Grotesk"/>
              </a:rPr>
              <a:t>El 20 % de los campos va a prueba con semilla fija. Ningún campo aparece en ambos lados.</a:t>
            </a:r>
          </a:p>
        </p:txBody>
      </p:sp>
      <p:sp>
        <p:nvSpPr>
          <p:cNvPr id="36" name="Rectangle 35"/>
          <p:cNvSpPr/>
          <p:nvPr/>
        </p:nvSpPr>
        <p:spPr>
          <a:xfrm>
            <a:off x="621792" y="5239512"/>
            <a:ext cx="5257800" cy="10515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5166360"/>
            <a:ext cx="5257800" cy="105156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5257800"/>
            <a:ext cx="4937760" cy="914400"/>
          </a:xfrm>
          <a:prstGeom prst="rect">
            <a:avLst/>
          </a:prstGeom>
          <a:noFill/>
        </p:spPr>
        <p:txBody>
          <a:bodyPr wrap="square" anchor="t" lIns="0" rIns="0" tIns="0" bIns="0">
            <a:spAutoFit/>
          </a:bodyPr>
          <a:lstStyle/>
          <a:p>
            <a:pPr algn="l">
              <a:lnSpc>
                <a:spcPct val="110000"/>
              </a:lnSpc>
            </a:pPr>
            <a:r>
              <a:rPr sz="1400" b="0">
                <a:solidFill>
                  <a:srgbClr val="000000"/>
                </a:solidFill>
                <a:latin typeface="Archivo Black"/>
              </a:rPr>
              <a:t>Regla fija: </a:t>
            </a:r>
            <a:r>
              <a:rPr sz="1400" b="1">
                <a:solidFill>
                  <a:srgbClr val="000000"/>
                </a:solidFill>
                <a:latin typeface="Space Grotesk"/>
              </a:rPr>
              <a:t>otros diagnósticos → magnitud 0</a:t>
            </a:r>
          </a:p>
          <a:p>
            <a:pPr algn="l">
              <a:lnSpc>
                <a:spcPct val="110000"/>
              </a:lnSpc>
            </a:pPr>
            <a:r>
              <a:rPr sz="1250" b="0">
                <a:solidFill>
                  <a:srgbClr val="4A4A4A"/>
                </a:solidFill>
                <a:latin typeface="Space Grotesk"/>
              </a:rPr>
              <a:t>Los modelos solo aprenden la severidad de la sequía.</a:t>
            </a:r>
          </a:p>
        </p:txBody>
      </p:sp>
      <p:sp>
        <p:nvSpPr>
          <p:cNvPr id="39" name="Rectangle 38"/>
          <p:cNvSpPr/>
          <p:nvPr/>
        </p:nvSpPr>
        <p:spPr>
          <a:xfrm>
            <a:off x="6199632" y="5239512"/>
            <a:ext cx="5513832" cy="10515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26480" y="5166360"/>
            <a:ext cx="5513832" cy="105156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9360" y="5257800"/>
            <a:ext cx="5212080" cy="914400"/>
          </a:xfrm>
          <a:prstGeom prst="rect">
            <a:avLst/>
          </a:prstGeom>
          <a:noFill/>
        </p:spPr>
        <p:txBody>
          <a:bodyPr wrap="square" anchor="t" lIns="0" rIns="0" tIns="0" bIns="0">
            <a:spAutoFit/>
          </a:bodyPr>
          <a:lstStyle/>
          <a:p>
            <a:pPr algn="l">
              <a:lnSpc>
                <a:spcPct val="110000"/>
              </a:lnSpc>
            </a:pPr>
            <a:r>
              <a:rPr sz="1400" b="0">
                <a:solidFill>
                  <a:srgbClr val="000000"/>
                </a:solidFill>
                <a:latin typeface="Archivo Black"/>
              </a:rPr>
              <a:t>Métricas: MAE · RMSE · R²</a:t>
            </a:r>
          </a:p>
          <a:p>
            <a:pPr algn="l">
              <a:lnSpc>
                <a:spcPct val="110000"/>
              </a:lnSpc>
            </a:pPr>
            <a:r>
              <a:rPr sz="1250" b="0">
                <a:solidFill>
                  <a:srgbClr val="4A4A4A"/>
                </a:solidFill>
                <a:latin typeface="Space Grotesk"/>
              </a:rPr>
              <a:t>Sobre las 834 fotos con sequía de prueba, usadas una sola vez.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56032"/>
            <a:ext cx="384048" cy="384048"/>
          </a:xfrm>
          <a:prstGeom prst="rect">
            <a:avLst/>
          </a:prstGeom>
          <a:solidFill>
            <a:srgbClr val="2E6F40"/>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2406" y="302117"/>
            <a:ext cx="276515" cy="268834"/>
          </a:xfrm>
          <a:custGeom>
            <a:avLst/>
            <a:gdLst/>
            <a:ahLst/>
            <a:cxnLst/>
            <a:rect l="l" t="t" r="r" b="b"/>
            <a:pathLst>
              <a:path w="276515" h="268834">
                <a:moveTo>
                  <a:pt x="138258" y="268834"/>
                </a:moveTo>
                <a:lnTo>
                  <a:pt x="138258" y="80650"/>
                </a:lnTo>
                <a:lnTo>
                  <a:pt x="53767" y="30724"/>
                </a:lnTo>
                <a:lnTo>
                  <a:pt x="0" y="99853"/>
                </a:lnTo>
                <a:lnTo>
                  <a:pt x="138258" y="153619"/>
                </a:lnTo>
                <a:lnTo>
                  <a:pt x="138258" y="80650"/>
                </a:lnTo>
                <a:lnTo>
                  <a:pt x="238110" y="0"/>
                </a:lnTo>
                <a:lnTo>
                  <a:pt x="276515" y="80650"/>
                </a:lnTo>
                <a:lnTo>
                  <a:pt x="138258" y="126736"/>
                </a:lnTo>
                <a:lnTo>
                  <a:pt x="138258" y="268834"/>
                </a:lnTo>
              </a:path>
            </a:pathLst>
          </a:custGeom>
          <a:no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46888"/>
            <a:ext cx="3657600" cy="274320"/>
          </a:xfrm>
          <a:prstGeom prst="rect">
            <a:avLst/>
          </a:prstGeom>
          <a:noFill/>
        </p:spPr>
        <p:txBody>
          <a:bodyPr wrap="square" anchor="t" lIns="0" rIns="0" tIns="0" bIns="0">
            <a:spAutoFit/>
          </a:bodyPr>
          <a:lstStyle/>
          <a:p>
            <a:pPr algn="l">
              <a:lnSpc>
                <a:spcPct val="110000"/>
              </a:lnSpc>
            </a:pPr>
            <a:r>
              <a:rPr sz="1500" b="0">
                <a:solidFill>
                  <a:srgbClr val="000000"/>
                </a:solidFill>
                <a:latin typeface="Archivo Black"/>
              </a:rPr>
              <a:t>Ojos en el campo</a:t>
            </a:r>
          </a:p>
        </p:txBody>
      </p:sp>
      <p:sp>
        <p:nvSpPr>
          <p:cNvPr id="6" name="TextBox 5"/>
          <p:cNvSpPr txBox="1"/>
          <p:nvPr/>
        </p:nvSpPr>
        <p:spPr>
          <a:xfrm>
            <a:off x="1051560" y="484632"/>
            <a:ext cx="3657600" cy="228600"/>
          </a:xfrm>
          <a:prstGeom prst="rect">
            <a:avLst/>
          </a:prstGeom>
          <a:noFill/>
        </p:spPr>
        <p:txBody>
          <a:bodyPr wrap="square" anchor="t" lIns="0" rIns="0" tIns="0" bIns="0">
            <a:spAutoFit/>
          </a:bodyPr>
          <a:lstStyle/>
          <a:p>
            <a:pPr algn="l">
              <a:lnSpc>
                <a:spcPct val="110000"/>
              </a:lnSpc>
            </a:pPr>
            <a:r>
              <a:rPr sz="1050" b="0">
                <a:solidFill>
                  <a:srgbClr val="4A4A4A"/>
                </a:solidFill>
                <a:latin typeface="Space Grotesk"/>
              </a:rPr>
              <a:t>Daño por sequía en cultivos</a:t>
            </a:r>
          </a:p>
        </p:txBody>
      </p:sp>
      <p:sp>
        <p:nvSpPr>
          <p:cNvPr id="7" name="TextBox 6"/>
          <p:cNvSpPr txBox="1"/>
          <p:nvPr/>
        </p:nvSpPr>
        <p:spPr>
          <a:xfrm>
            <a:off x="8412480" y="329184"/>
            <a:ext cx="3246120" cy="274320"/>
          </a:xfrm>
          <a:prstGeom prst="rect">
            <a:avLst/>
          </a:prstGeom>
          <a:noFill/>
        </p:spPr>
        <p:txBody>
          <a:bodyPr wrap="square" anchor="t" lIns="0" rIns="0" tIns="0" bIns="0">
            <a:spAutoFit/>
          </a:bodyPr>
          <a:lstStyle/>
          <a:p>
            <a:pPr algn="r">
              <a:lnSpc>
                <a:spcPct val="110000"/>
              </a:lnSpc>
            </a:pPr>
            <a:r>
              <a:rPr sz="1200" b="0">
                <a:solidFill>
                  <a:srgbClr val="000000"/>
                </a:solidFill>
                <a:latin typeface="Archivo Black"/>
              </a:rPr>
              <a:t>05 / 12</a:t>
            </a:r>
          </a:p>
        </p:txBody>
      </p:sp>
      <p:sp>
        <p:nvSpPr>
          <p:cNvPr id="8" name="Rectangle 7"/>
          <p:cNvSpPr/>
          <p:nvPr/>
        </p:nvSpPr>
        <p:spPr>
          <a:xfrm>
            <a:off x="0" y="822960"/>
            <a:ext cx="12191695"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10528"/>
            <a:ext cx="12191695" cy="3474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83680"/>
            <a:ext cx="11064240" cy="228600"/>
          </a:xfrm>
          <a:prstGeom prst="rect">
            <a:avLst/>
          </a:prstGeom>
          <a:noFill/>
        </p:spPr>
        <p:txBody>
          <a:bodyPr wrap="square" anchor="t" lIns="0" rIns="0" tIns="0" bIns="0">
            <a:spAutoFit/>
          </a:bodyPr>
          <a:lstStyle/>
          <a:p>
            <a:pPr algn="ctr">
              <a:lnSpc>
                <a:spcPct val="110000"/>
              </a:lnSpc>
            </a:pPr>
            <a:r>
              <a:rPr sz="1050" b="0">
                <a:solidFill>
                  <a:srgbClr val="FFFFFF"/>
                </a:solidFill>
                <a:latin typeface="Space Grotesk"/>
              </a:rPr>
              <a:t>CC3084 Data Science  ·  CGIAR Eyes on the Ground  ·  Universidad del Valle de Guatemala</a:t>
            </a:r>
          </a:p>
        </p:txBody>
      </p:sp>
      <p:sp>
        <p:nvSpPr>
          <p:cNvPr id="11" name="Rectangle 10"/>
          <p:cNvSpPr/>
          <p:nvPr/>
        </p:nvSpPr>
        <p:spPr>
          <a:xfrm>
            <a:off x="594360" y="1143000"/>
            <a:ext cx="1924812"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097280"/>
            <a:ext cx="1924812" cy="310896"/>
          </a:xfrm>
          <a:prstGeom prst="rect">
            <a:avLst/>
          </a:prstGeom>
          <a:solidFill>
            <a:srgbClr val="C9A227"/>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097280"/>
            <a:ext cx="1924812" cy="310896"/>
          </a:xfrm>
          <a:prstGeom prst="rect">
            <a:avLst/>
          </a:prstGeom>
          <a:noFill/>
        </p:spPr>
        <p:txBody>
          <a:bodyPr wrap="square" anchor="ctr" lIns="0" rIns="0" tIns="0" bIns="0">
            <a:spAutoFit/>
          </a:bodyPr>
          <a:lstStyle/>
          <a:p>
            <a:pPr algn="ctr">
              <a:lnSpc>
                <a:spcPct val="110000"/>
              </a:lnSpc>
            </a:pPr>
            <a:r>
              <a:rPr sz="1100" b="0">
                <a:solidFill>
                  <a:srgbClr val="000000"/>
                </a:solidFill>
                <a:latin typeface="Archivo Black"/>
              </a:rPr>
              <a:t>04 · SEIS MODELOS</a:t>
            </a:r>
          </a:p>
        </p:txBody>
      </p:sp>
      <p:sp>
        <p:nvSpPr>
          <p:cNvPr id="14" name="TextBox 13"/>
          <p:cNvSpPr txBox="1"/>
          <p:nvPr/>
        </p:nvSpPr>
        <p:spPr>
          <a:xfrm>
            <a:off x="548640" y="1536192"/>
            <a:ext cx="11064240" cy="685800"/>
          </a:xfrm>
          <a:prstGeom prst="rect">
            <a:avLst/>
          </a:prstGeom>
          <a:noFill/>
        </p:spPr>
        <p:txBody>
          <a:bodyPr wrap="square" anchor="t" lIns="0" rIns="0" tIns="0" bIns="0">
            <a:spAutoFit/>
          </a:bodyPr>
          <a:lstStyle/>
          <a:p>
            <a:pPr algn="l">
              <a:lnSpc>
                <a:spcPct val="100000"/>
              </a:lnSpc>
            </a:pPr>
            <a:r>
              <a:rPr sz="3000" b="0">
                <a:solidFill>
                  <a:srgbClr val="000000"/>
                </a:solidFill>
                <a:latin typeface="Archivo Black"/>
              </a:rPr>
              <a:t>El color explica parte del daño, pero no todo</a:t>
            </a:r>
          </a:p>
        </p:txBody>
      </p:sp>
      <p:sp>
        <p:nvSpPr>
          <p:cNvPr id="15" name="TextBox 14"/>
          <p:cNvSpPr txBox="1"/>
          <p:nvPr/>
        </p:nvSpPr>
        <p:spPr>
          <a:xfrm>
            <a:off x="548640" y="2240280"/>
            <a:ext cx="11064240" cy="411480"/>
          </a:xfrm>
          <a:prstGeom prst="rect">
            <a:avLst/>
          </a:prstGeom>
          <a:noFill/>
        </p:spPr>
        <p:txBody>
          <a:bodyPr wrap="square" anchor="t" lIns="0" rIns="0" tIns="0" bIns="0">
            <a:spAutoFit/>
          </a:bodyPr>
          <a:lstStyle/>
          <a:p>
            <a:pPr algn="l">
              <a:lnSpc>
                <a:spcPct val="110000"/>
              </a:lnSpc>
            </a:pPr>
            <a:r>
              <a:rPr sz="1450" b="0">
                <a:solidFill>
                  <a:srgbClr val="4A4A4A"/>
                </a:solidFill>
                <a:latin typeface="Space Grotesk"/>
              </a:rPr>
              <a:t>Tres familias de modelos; los de atributos solo ven promedios de color y exposición de la foto.</a:t>
            </a:r>
          </a:p>
        </p:txBody>
      </p:sp>
      <p:sp>
        <p:nvSpPr>
          <p:cNvPr id="16" name="Rectangle 15"/>
          <p:cNvSpPr/>
          <p:nvPr/>
        </p:nvSpPr>
        <p:spPr>
          <a:xfrm>
            <a:off x="548640" y="2724912"/>
            <a:ext cx="11091672"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 y="3090672"/>
            <a:ext cx="5120640"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20"/>
            <a:ext cx="5120640" cy="91440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3127248"/>
            <a:ext cx="4754880" cy="777240"/>
          </a:xfrm>
          <a:prstGeom prst="rect">
            <a:avLst/>
          </a:prstGeom>
          <a:noFill/>
        </p:spPr>
        <p:txBody>
          <a:bodyPr wrap="square" anchor="t" lIns="0" rIns="0" tIns="0" bIns="0">
            <a:spAutoFit/>
          </a:bodyPr>
          <a:lstStyle/>
          <a:p>
            <a:pPr algn="l">
              <a:lnSpc>
                <a:spcPct val="110000"/>
              </a:lnSpc>
            </a:pPr>
            <a:r>
              <a:rPr sz="1500" b="0">
                <a:solidFill>
                  <a:srgbClr val="000000"/>
                </a:solidFill>
                <a:latin typeface="Archivo Black"/>
              </a:rPr>
              <a:t>Referencia</a:t>
            </a:r>
          </a:p>
          <a:p>
            <a:pPr algn="l">
              <a:lnSpc>
                <a:spcPct val="110000"/>
              </a:lnSpc>
            </a:pPr>
            <a:r>
              <a:rPr sz="1250" b="0">
                <a:solidFill>
                  <a:srgbClr val="4A4A4A"/>
                </a:solidFill>
                <a:latin typeface="Space Grotesk"/>
              </a:rPr>
              <a:t>Predictor constante y regresión sobre el exceso de verde</a:t>
            </a:r>
          </a:p>
        </p:txBody>
      </p:sp>
      <p:sp>
        <p:nvSpPr>
          <p:cNvPr id="20" name="Rectangle 19"/>
          <p:cNvSpPr/>
          <p:nvPr/>
        </p:nvSpPr>
        <p:spPr>
          <a:xfrm>
            <a:off x="621792" y="4187952"/>
            <a:ext cx="5120640"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114800"/>
            <a:ext cx="5120640" cy="914400"/>
          </a:xfrm>
          <a:prstGeom prst="rect">
            <a:avLst/>
          </a:prstGeom>
          <a:solidFill>
            <a:srgbClr val="EDE1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224528"/>
            <a:ext cx="4754880" cy="777240"/>
          </a:xfrm>
          <a:prstGeom prst="rect">
            <a:avLst/>
          </a:prstGeom>
          <a:noFill/>
        </p:spPr>
        <p:txBody>
          <a:bodyPr wrap="square" anchor="t" lIns="0" rIns="0" tIns="0" bIns="0">
            <a:spAutoFit/>
          </a:bodyPr>
          <a:lstStyle/>
          <a:p>
            <a:pPr algn="l">
              <a:lnSpc>
                <a:spcPct val="110000"/>
              </a:lnSpc>
            </a:pPr>
            <a:r>
              <a:rPr sz="1500" b="0">
                <a:solidFill>
                  <a:srgbClr val="000000"/>
                </a:solidFill>
                <a:latin typeface="Archivo Black"/>
              </a:rPr>
              <a:t>Atributos</a:t>
            </a:r>
          </a:p>
          <a:p>
            <a:pPr algn="l">
              <a:lnSpc>
                <a:spcPct val="110000"/>
              </a:lnSpc>
            </a:pPr>
            <a:r>
              <a:rPr sz="1250" b="0">
                <a:solidFill>
                  <a:srgbClr val="4A4A4A"/>
                </a:solidFill>
                <a:latin typeface="Space Grotesk"/>
              </a:rPr>
              <a:t>Random Forest con 9 atributos de color y exposición de la foto</a:t>
            </a:r>
          </a:p>
        </p:txBody>
      </p:sp>
      <p:sp>
        <p:nvSpPr>
          <p:cNvPr id="23" name="Rectangle 22"/>
          <p:cNvSpPr/>
          <p:nvPr/>
        </p:nvSpPr>
        <p:spPr>
          <a:xfrm>
            <a:off x="621792" y="5285231"/>
            <a:ext cx="5120640"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212079"/>
            <a:ext cx="5120640" cy="914400"/>
          </a:xfrm>
          <a:prstGeom prst="rect">
            <a:avLst/>
          </a:prstGeom>
          <a:solidFill>
            <a:srgbClr val="2E6F4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321807"/>
            <a:ext cx="4754880" cy="777240"/>
          </a:xfrm>
          <a:prstGeom prst="rect">
            <a:avLst/>
          </a:prstGeom>
          <a:noFill/>
        </p:spPr>
        <p:txBody>
          <a:bodyPr wrap="square" anchor="t" lIns="0" rIns="0" tIns="0" bIns="0">
            <a:spAutoFit/>
          </a:bodyPr>
          <a:lstStyle/>
          <a:p>
            <a:pPr algn="l">
              <a:lnSpc>
                <a:spcPct val="110000"/>
              </a:lnSpc>
            </a:pPr>
            <a:r>
              <a:rPr sz="1500" b="0">
                <a:solidFill>
                  <a:srgbClr val="FFFFFF"/>
                </a:solidFill>
                <a:latin typeface="Archivo Black"/>
              </a:rPr>
              <a:t>Redes convolucionales</a:t>
            </a:r>
          </a:p>
          <a:p>
            <a:pPr algn="l">
              <a:lnSpc>
                <a:spcPct val="110000"/>
              </a:lnSpc>
            </a:pPr>
            <a:r>
              <a:rPr sz="1250" b="0">
                <a:solidFill>
                  <a:srgbClr val="FFFFFF"/>
                </a:solidFill>
                <a:latin typeface="Space Grotesk"/>
              </a:rPr>
              <a:t>ResNet50, ResNet50 ajustada y DenseNet121, preentrenadas en ImageNet</a:t>
            </a:r>
          </a:p>
        </p:txBody>
      </p:sp>
      <p:sp>
        <p:nvSpPr>
          <p:cNvPr id="26" name="Rectangle 25"/>
          <p:cNvSpPr/>
          <p:nvPr/>
        </p:nvSpPr>
        <p:spPr>
          <a:xfrm>
            <a:off x="6062472" y="3090672"/>
            <a:ext cx="3246120" cy="31089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89320" y="3017520"/>
            <a:ext cx="3246120" cy="310896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portancias.png"/>
          <p:cNvPicPr>
            <a:picLocks noChangeAspect="1"/>
          </p:cNvPicPr>
          <p:nvPr/>
        </p:nvPicPr>
        <p:blipFill>
          <a:blip r:embed="rId2"/>
          <a:stretch>
            <a:fillRect/>
          </a:stretch>
        </p:blipFill>
        <p:spPr>
          <a:xfrm>
            <a:off x="6126479" y="3623299"/>
            <a:ext cx="2971800" cy="1897400"/>
          </a:xfrm>
          <a:prstGeom prst="rect">
            <a:avLst/>
          </a:prstGeom>
        </p:spPr>
      </p:pic>
      <p:sp>
        <p:nvSpPr>
          <p:cNvPr id="29" name="Rectangle 28"/>
          <p:cNvSpPr/>
          <p:nvPr/>
        </p:nvSpPr>
        <p:spPr>
          <a:xfrm>
            <a:off x="9582912" y="3090672"/>
            <a:ext cx="2130552"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9760" y="3017520"/>
            <a:ext cx="2130552" cy="146304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10928" y="3182112"/>
            <a:ext cx="1728216" cy="685800"/>
          </a:xfrm>
          <a:prstGeom prst="rect">
            <a:avLst/>
          </a:prstGeom>
          <a:noFill/>
        </p:spPr>
        <p:txBody>
          <a:bodyPr wrap="square" anchor="t" lIns="0" rIns="0" tIns="0" bIns="0">
            <a:spAutoFit/>
          </a:bodyPr>
          <a:lstStyle/>
          <a:p>
            <a:pPr algn="l">
              <a:lnSpc>
                <a:spcPct val="110000"/>
              </a:lnSpc>
            </a:pPr>
            <a:r>
              <a:rPr sz="3000" b="0">
                <a:solidFill>
                  <a:srgbClr val="000000"/>
                </a:solidFill>
                <a:latin typeface="Archivo Black"/>
              </a:rPr>
              <a:t>20.61</a:t>
            </a:r>
          </a:p>
        </p:txBody>
      </p:sp>
      <p:sp>
        <p:nvSpPr>
          <p:cNvPr id="32" name="TextBox 31"/>
          <p:cNvSpPr txBox="1"/>
          <p:nvPr/>
        </p:nvSpPr>
        <p:spPr>
          <a:xfrm>
            <a:off x="9710928" y="3672840"/>
            <a:ext cx="1728216" cy="624840"/>
          </a:xfrm>
          <a:prstGeom prst="rect">
            <a:avLst/>
          </a:prstGeom>
          <a:noFill/>
        </p:spPr>
        <p:txBody>
          <a:bodyPr wrap="square" anchor="t" lIns="0" rIns="0" tIns="0" bIns="0">
            <a:spAutoFit/>
          </a:bodyPr>
          <a:lstStyle/>
          <a:p>
            <a:pPr algn="l">
              <a:lnSpc>
                <a:spcPct val="110000"/>
              </a:lnSpc>
            </a:pPr>
            <a:r>
              <a:rPr sz="1350" b="0">
                <a:solidFill>
                  <a:srgbClr val="4A4A4A"/>
                </a:solidFill>
                <a:latin typeface="Space Grotesk"/>
              </a:rPr>
              <a:t>RMSE del Random Forest</a:t>
            </a:r>
          </a:p>
        </p:txBody>
      </p:sp>
      <p:sp>
        <p:nvSpPr>
          <p:cNvPr id="33" name="Rectangle 32"/>
          <p:cNvSpPr/>
          <p:nvPr/>
        </p:nvSpPr>
        <p:spPr>
          <a:xfrm>
            <a:off x="9582912" y="4736592"/>
            <a:ext cx="2130552"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9760" y="4663440"/>
            <a:ext cx="2130552" cy="146304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10928" y="4828031"/>
            <a:ext cx="1728216" cy="685800"/>
          </a:xfrm>
          <a:prstGeom prst="rect">
            <a:avLst/>
          </a:prstGeom>
          <a:noFill/>
        </p:spPr>
        <p:txBody>
          <a:bodyPr wrap="square" anchor="t" lIns="0" rIns="0" tIns="0" bIns="0">
            <a:spAutoFit/>
          </a:bodyPr>
          <a:lstStyle/>
          <a:p>
            <a:pPr algn="l">
              <a:lnSpc>
                <a:spcPct val="110000"/>
              </a:lnSpc>
            </a:pPr>
            <a:r>
              <a:rPr sz="3000" b="0">
                <a:solidFill>
                  <a:srgbClr val="000000"/>
                </a:solidFill>
                <a:latin typeface="Archivo Black"/>
              </a:rPr>
              <a:t>24.09</a:t>
            </a:r>
          </a:p>
        </p:txBody>
      </p:sp>
      <p:sp>
        <p:nvSpPr>
          <p:cNvPr id="36" name="TextBox 35"/>
          <p:cNvSpPr txBox="1"/>
          <p:nvPr/>
        </p:nvSpPr>
        <p:spPr>
          <a:xfrm>
            <a:off x="9710928" y="5318760"/>
            <a:ext cx="1728216" cy="624840"/>
          </a:xfrm>
          <a:prstGeom prst="rect">
            <a:avLst/>
          </a:prstGeom>
          <a:noFill/>
        </p:spPr>
        <p:txBody>
          <a:bodyPr wrap="square" anchor="t" lIns="0" rIns="0" tIns="0" bIns="0">
            <a:spAutoFit/>
          </a:bodyPr>
          <a:lstStyle/>
          <a:p>
            <a:pPr algn="l">
              <a:lnSpc>
                <a:spcPct val="110000"/>
              </a:lnSpc>
            </a:pPr>
            <a:r>
              <a:rPr sz="1350" b="0">
                <a:solidFill>
                  <a:srgbClr val="4A4A4A"/>
                </a:solidFill>
                <a:latin typeface="Space Grotesk"/>
              </a:rPr>
              <a:t>RMSE del predictor constante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56032"/>
            <a:ext cx="384048" cy="384048"/>
          </a:xfrm>
          <a:prstGeom prst="rect">
            <a:avLst/>
          </a:prstGeom>
          <a:solidFill>
            <a:srgbClr val="2E6F40"/>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2406" y="302117"/>
            <a:ext cx="276515" cy="268834"/>
          </a:xfrm>
          <a:custGeom>
            <a:avLst/>
            <a:gdLst/>
            <a:ahLst/>
            <a:cxnLst/>
            <a:rect l="l" t="t" r="r" b="b"/>
            <a:pathLst>
              <a:path w="276515" h="268834">
                <a:moveTo>
                  <a:pt x="138258" y="268834"/>
                </a:moveTo>
                <a:lnTo>
                  <a:pt x="138258" y="80650"/>
                </a:lnTo>
                <a:lnTo>
                  <a:pt x="53767" y="30724"/>
                </a:lnTo>
                <a:lnTo>
                  <a:pt x="0" y="99853"/>
                </a:lnTo>
                <a:lnTo>
                  <a:pt x="138258" y="153619"/>
                </a:lnTo>
                <a:lnTo>
                  <a:pt x="138258" y="80650"/>
                </a:lnTo>
                <a:lnTo>
                  <a:pt x="238110" y="0"/>
                </a:lnTo>
                <a:lnTo>
                  <a:pt x="276515" y="80650"/>
                </a:lnTo>
                <a:lnTo>
                  <a:pt x="138258" y="126736"/>
                </a:lnTo>
                <a:lnTo>
                  <a:pt x="138258" y="268834"/>
                </a:lnTo>
              </a:path>
            </a:pathLst>
          </a:custGeom>
          <a:no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46888"/>
            <a:ext cx="3657600" cy="274320"/>
          </a:xfrm>
          <a:prstGeom prst="rect">
            <a:avLst/>
          </a:prstGeom>
          <a:noFill/>
        </p:spPr>
        <p:txBody>
          <a:bodyPr wrap="square" anchor="t" lIns="0" rIns="0" tIns="0" bIns="0">
            <a:spAutoFit/>
          </a:bodyPr>
          <a:lstStyle/>
          <a:p>
            <a:pPr algn="l">
              <a:lnSpc>
                <a:spcPct val="110000"/>
              </a:lnSpc>
            </a:pPr>
            <a:r>
              <a:rPr sz="1500" b="0">
                <a:solidFill>
                  <a:srgbClr val="000000"/>
                </a:solidFill>
                <a:latin typeface="Archivo Black"/>
              </a:rPr>
              <a:t>Ojos en el campo</a:t>
            </a:r>
          </a:p>
        </p:txBody>
      </p:sp>
      <p:sp>
        <p:nvSpPr>
          <p:cNvPr id="6" name="TextBox 5"/>
          <p:cNvSpPr txBox="1"/>
          <p:nvPr/>
        </p:nvSpPr>
        <p:spPr>
          <a:xfrm>
            <a:off x="1051560" y="484632"/>
            <a:ext cx="3657600" cy="228600"/>
          </a:xfrm>
          <a:prstGeom prst="rect">
            <a:avLst/>
          </a:prstGeom>
          <a:noFill/>
        </p:spPr>
        <p:txBody>
          <a:bodyPr wrap="square" anchor="t" lIns="0" rIns="0" tIns="0" bIns="0">
            <a:spAutoFit/>
          </a:bodyPr>
          <a:lstStyle/>
          <a:p>
            <a:pPr algn="l">
              <a:lnSpc>
                <a:spcPct val="110000"/>
              </a:lnSpc>
            </a:pPr>
            <a:r>
              <a:rPr sz="1050" b="0">
                <a:solidFill>
                  <a:srgbClr val="4A4A4A"/>
                </a:solidFill>
                <a:latin typeface="Space Grotesk"/>
              </a:rPr>
              <a:t>Daño por sequía en cultivos</a:t>
            </a:r>
          </a:p>
        </p:txBody>
      </p:sp>
      <p:sp>
        <p:nvSpPr>
          <p:cNvPr id="7" name="TextBox 6"/>
          <p:cNvSpPr txBox="1"/>
          <p:nvPr/>
        </p:nvSpPr>
        <p:spPr>
          <a:xfrm>
            <a:off x="8412480" y="329184"/>
            <a:ext cx="3246120" cy="274320"/>
          </a:xfrm>
          <a:prstGeom prst="rect">
            <a:avLst/>
          </a:prstGeom>
          <a:noFill/>
        </p:spPr>
        <p:txBody>
          <a:bodyPr wrap="square" anchor="t" lIns="0" rIns="0" tIns="0" bIns="0">
            <a:spAutoFit/>
          </a:bodyPr>
          <a:lstStyle/>
          <a:p>
            <a:pPr algn="r">
              <a:lnSpc>
                <a:spcPct val="110000"/>
              </a:lnSpc>
            </a:pPr>
            <a:r>
              <a:rPr sz="1200" b="0">
                <a:solidFill>
                  <a:srgbClr val="000000"/>
                </a:solidFill>
                <a:latin typeface="Archivo Black"/>
              </a:rPr>
              <a:t>06 / 12</a:t>
            </a:r>
          </a:p>
        </p:txBody>
      </p:sp>
      <p:sp>
        <p:nvSpPr>
          <p:cNvPr id="8" name="Rectangle 7"/>
          <p:cNvSpPr/>
          <p:nvPr/>
        </p:nvSpPr>
        <p:spPr>
          <a:xfrm>
            <a:off x="0" y="822960"/>
            <a:ext cx="12191695"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10528"/>
            <a:ext cx="12191695" cy="3474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83680"/>
            <a:ext cx="11064240" cy="228600"/>
          </a:xfrm>
          <a:prstGeom prst="rect">
            <a:avLst/>
          </a:prstGeom>
          <a:noFill/>
        </p:spPr>
        <p:txBody>
          <a:bodyPr wrap="square" anchor="t" lIns="0" rIns="0" tIns="0" bIns="0">
            <a:spAutoFit/>
          </a:bodyPr>
          <a:lstStyle/>
          <a:p>
            <a:pPr algn="ctr">
              <a:lnSpc>
                <a:spcPct val="110000"/>
              </a:lnSpc>
            </a:pPr>
            <a:r>
              <a:rPr sz="1050" b="0">
                <a:solidFill>
                  <a:srgbClr val="FFFFFF"/>
                </a:solidFill>
                <a:latin typeface="Space Grotesk"/>
              </a:rPr>
              <a:t>CC3084 Data Science  ·  CGIAR Eyes on the Ground  ·  Universidad del Valle de Guatemala</a:t>
            </a:r>
          </a:p>
        </p:txBody>
      </p:sp>
      <p:sp>
        <p:nvSpPr>
          <p:cNvPr id="11" name="Rectangle 10"/>
          <p:cNvSpPr/>
          <p:nvPr/>
        </p:nvSpPr>
        <p:spPr>
          <a:xfrm>
            <a:off x="594360" y="1143000"/>
            <a:ext cx="1540764"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097280"/>
            <a:ext cx="1540764" cy="310896"/>
          </a:xfrm>
          <a:prstGeom prst="rect">
            <a:avLst/>
          </a:prstGeom>
          <a:solidFill>
            <a:srgbClr val="C9A227"/>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097280"/>
            <a:ext cx="1540764" cy="310896"/>
          </a:xfrm>
          <a:prstGeom prst="rect">
            <a:avLst/>
          </a:prstGeom>
          <a:noFill/>
        </p:spPr>
        <p:txBody>
          <a:bodyPr wrap="square" anchor="ctr" lIns="0" rIns="0" tIns="0" bIns="0">
            <a:spAutoFit/>
          </a:bodyPr>
          <a:lstStyle/>
          <a:p>
            <a:pPr algn="ctr">
              <a:lnSpc>
                <a:spcPct val="110000"/>
              </a:lnSpc>
            </a:pPr>
            <a:r>
              <a:rPr sz="1100" b="0">
                <a:solidFill>
                  <a:srgbClr val="000000"/>
                </a:solidFill>
                <a:latin typeface="Archivo Black"/>
              </a:rPr>
              <a:t>05 · RESNET50</a:t>
            </a:r>
          </a:p>
        </p:txBody>
      </p:sp>
      <p:sp>
        <p:nvSpPr>
          <p:cNvPr id="14" name="TextBox 13"/>
          <p:cNvSpPr txBox="1"/>
          <p:nvPr/>
        </p:nvSpPr>
        <p:spPr>
          <a:xfrm>
            <a:off x="548640" y="1536192"/>
            <a:ext cx="11064240" cy="685800"/>
          </a:xfrm>
          <a:prstGeom prst="rect">
            <a:avLst/>
          </a:prstGeom>
          <a:noFill/>
        </p:spPr>
        <p:txBody>
          <a:bodyPr wrap="square" anchor="t" lIns="0" rIns="0" tIns="0" bIns="0">
            <a:spAutoFit/>
          </a:bodyPr>
          <a:lstStyle/>
          <a:p>
            <a:pPr algn="l">
              <a:lnSpc>
                <a:spcPct val="100000"/>
              </a:lnSpc>
            </a:pPr>
            <a:r>
              <a:rPr sz="3000" b="0">
                <a:solidFill>
                  <a:srgbClr val="000000"/>
                </a:solidFill>
                <a:latin typeface="Archivo Black"/>
              </a:rPr>
              <a:t>Ajustar toda la red y ver la foto a 320 px bajó el error</a:t>
            </a:r>
          </a:p>
        </p:txBody>
      </p:sp>
      <p:sp>
        <p:nvSpPr>
          <p:cNvPr id="15" name="TextBox 14"/>
          <p:cNvSpPr txBox="1"/>
          <p:nvPr/>
        </p:nvSpPr>
        <p:spPr>
          <a:xfrm>
            <a:off x="548640" y="2240280"/>
            <a:ext cx="11064240" cy="411480"/>
          </a:xfrm>
          <a:prstGeom prst="rect">
            <a:avLst/>
          </a:prstGeom>
          <a:noFill/>
        </p:spPr>
        <p:txBody>
          <a:bodyPr wrap="square" anchor="t" lIns="0" rIns="0" tIns="0" bIns="0">
            <a:spAutoFit/>
          </a:bodyPr>
          <a:lstStyle/>
          <a:p>
            <a:pPr algn="l">
              <a:lnSpc>
                <a:spcPct val="110000"/>
              </a:lnSpc>
            </a:pPr>
            <a:r>
              <a:rPr sz="1450" b="0">
                <a:solidFill>
                  <a:srgbClr val="4A4A4A"/>
                </a:solidFill>
                <a:latin typeface="Space Grotesk"/>
              </a:rPr>
              <a:t>Dos versiones de la misma arquitectura: el procedimiento común y una receta ajustada.</a:t>
            </a:r>
          </a:p>
        </p:txBody>
      </p:sp>
      <p:sp>
        <p:nvSpPr>
          <p:cNvPr id="16" name="Rectangle 15"/>
          <p:cNvSpPr/>
          <p:nvPr/>
        </p:nvSpPr>
        <p:spPr>
          <a:xfrm>
            <a:off x="548640" y="2724912"/>
            <a:ext cx="11091672"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 y="3090672"/>
            <a:ext cx="3520440" cy="1600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20"/>
            <a:ext cx="3520440" cy="160020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3182112"/>
            <a:ext cx="3118104" cy="685800"/>
          </a:xfrm>
          <a:prstGeom prst="rect">
            <a:avLst/>
          </a:prstGeom>
          <a:noFill/>
        </p:spPr>
        <p:txBody>
          <a:bodyPr wrap="square" anchor="t" lIns="0" rIns="0" tIns="0" bIns="0">
            <a:spAutoFit/>
          </a:bodyPr>
          <a:lstStyle/>
          <a:p>
            <a:pPr algn="l">
              <a:lnSpc>
                <a:spcPct val="110000"/>
              </a:lnSpc>
            </a:pPr>
            <a:r>
              <a:rPr sz="4000" b="0">
                <a:solidFill>
                  <a:srgbClr val="000000"/>
                </a:solidFill>
                <a:latin typeface="Archivo Black"/>
              </a:rPr>
              <a:t>18.33</a:t>
            </a:r>
          </a:p>
        </p:txBody>
      </p:sp>
      <p:sp>
        <p:nvSpPr>
          <p:cNvPr id="20" name="TextBox 19"/>
          <p:cNvSpPr txBox="1"/>
          <p:nvPr/>
        </p:nvSpPr>
        <p:spPr>
          <a:xfrm>
            <a:off x="749808" y="3799840"/>
            <a:ext cx="3118104" cy="635000"/>
          </a:xfrm>
          <a:prstGeom prst="rect">
            <a:avLst/>
          </a:prstGeom>
          <a:noFill/>
        </p:spPr>
        <p:txBody>
          <a:bodyPr wrap="square" anchor="t" lIns="0" rIns="0" tIns="0" bIns="0">
            <a:spAutoFit/>
          </a:bodyPr>
          <a:lstStyle/>
          <a:p>
            <a:pPr algn="l">
              <a:lnSpc>
                <a:spcPct val="110000"/>
              </a:lnSpc>
            </a:pPr>
            <a:r>
              <a:rPr sz="1350" b="0">
                <a:solidFill>
                  <a:srgbClr val="4A4A4A"/>
                </a:solidFill>
                <a:latin typeface="Space Grotesk"/>
              </a:rPr>
              <a:t>RMSE de la ResNet50 con el procedimiento común</a:t>
            </a:r>
          </a:p>
        </p:txBody>
      </p:sp>
      <p:sp>
        <p:nvSpPr>
          <p:cNvPr id="21" name="Rectangle 20"/>
          <p:cNvSpPr/>
          <p:nvPr/>
        </p:nvSpPr>
        <p:spPr>
          <a:xfrm>
            <a:off x="4416552" y="3090672"/>
            <a:ext cx="3520440" cy="1600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3400" y="3017520"/>
            <a:ext cx="3520440" cy="1600200"/>
          </a:xfrm>
          <a:prstGeom prst="rect">
            <a:avLst/>
          </a:prstGeom>
          <a:solidFill>
            <a:srgbClr val="2E6F4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44568" y="3182112"/>
            <a:ext cx="3118104" cy="685800"/>
          </a:xfrm>
          <a:prstGeom prst="rect">
            <a:avLst/>
          </a:prstGeom>
          <a:noFill/>
        </p:spPr>
        <p:txBody>
          <a:bodyPr wrap="square" anchor="t" lIns="0" rIns="0" tIns="0" bIns="0">
            <a:spAutoFit/>
          </a:bodyPr>
          <a:lstStyle/>
          <a:p>
            <a:pPr algn="l">
              <a:lnSpc>
                <a:spcPct val="110000"/>
              </a:lnSpc>
            </a:pPr>
            <a:r>
              <a:rPr sz="4000" b="0">
                <a:solidFill>
                  <a:srgbClr val="FFFFFF"/>
                </a:solidFill>
                <a:latin typeface="Archivo Black"/>
              </a:rPr>
              <a:t>17.84</a:t>
            </a:r>
          </a:p>
        </p:txBody>
      </p:sp>
      <p:sp>
        <p:nvSpPr>
          <p:cNvPr id="24" name="TextBox 23"/>
          <p:cNvSpPr txBox="1"/>
          <p:nvPr/>
        </p:nvSpPr>
        <p:spPr>
          <a:xfrm>
            <a:off x="4544568" y="3799840"/>
            <a:ext cx="3118104" cy="635000"/>
          </a:xfrm>
          <a:prstGeom prst="rect">
            <a:avLst/>
          </a:prstGeom>
          <a:noFill/>
        </p:spPr>
        <p:txBody>
          <a:bodyPr wrap="square" anchor="t" lIns="0" rIns="0" tIns="0" bIns="0">
            <a:spAutoFit/>
          </a:bodyPr>
          <a:lstStyle/>
          <a:p>
            <a:pPr algn="l">
              <a:lnSpc>
                <a:spcPct val="110000"/>
              </a:lnSpc>
            </a:pPr>
            <a:r>
              <a:rPr sz="1350" b="0">
                <a:solidFill>
                  <a:srgbClr val="FFFFFF"/>
                </a:solidFill>
                <a:latin typeface="Space Grotesk"/>
              </a:rPr>
              <a:t>RMSE de la ResNet50 ajustada, el menor de los seis</a:t>
            </a:r>
          </a:p>
        </p:txBody>
      </p:sp>
      <p:sp>
        <p:nvSpPr>
          <p:cNvPr id="25" name="Rectangle 24"/>
          <p:cNvSpPr/>
          <p:nvPr/>
        </p:nvSpPr>
        <p:spPr>
          <a:xfrm>
            <a:off x="8211312" y="3090672"/>
            <a:ext cx="3502152" cy="1600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3017520"/>
            <a:ext cx="3502152" cy="1600200"/>
          </a:xfrm>
          <a:prstGeom prst="rect">
            <a:avLst/>
          </a:prstGeom>
          <a:solidFill>
            <a:srgbClr val="EDE1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9328" y="3182112"/>
            <a:ext cx="3099816" cy="685800"/>
          </a:xfrm>
          <a:prstGeom prst="rect">
            <a:avLst/>
          </a:prstGeom>
          <a:noFill/>
        </p:spPr>
        <p:txBody>
          <a:bodyPr wrap="square" anchor="t" lIns="0" rIns="0" tIns="0" bIns="0">
            <a:spAutoFit/>
          </a:bodyPr>
          <a:lstStyle/>
          <a:p>
            <a:pPr algn="l">
              <a:lnSpc>
                <a:spcPct val="110000"/>
              </a:lnSpc>
            </a:pPr>
            <a:r>
              <a:rPr sz="4000" b="0">
                <a:solidFill>
                  <a:srgbClr val="000000"/>
                </a:solidFill>
                <a:latin typeface="Archivo Black"/>
              </a:rPr>
              <a:t>−1.11</a:t>
            </a:r>
          </a:p>
        </p:txBody>
      </p:sp>
      <p:sp>
        <p:nvSpPr>
          <p:cNvPr id="28" name="TextBox 27"/>
          <p:cNvSpPr txBox="1"/>
          <p:nvPr/>
        </p:nvSpPr>
        <p:spPr>
          <a:xfrm>
            <a:off x="8339328" y="3799840"/>
            <a:ext cx="3099816" cy="635000"/>
          </a:xfrm>
          <a:prstGeom prst="rect">
            <a:avLst/>
          </a:prstGeom>
          <a:noFill/>
        </p:spPr>
        <p:txBody>
          <a:bodyPr wrap="square" anchor="t" lIns="0" rIns="0" tIns="0" bIns="0">
            <a:spAutoFit/>
          </a:bodyPr>
          <a:lstStyle/>
          <a:p>
            <a:pPr algn="l">
              <a:lnSpc>
                <a:spcPct val="110000"/>
              </a:lnSpc>
            </a:pPr>
            <a:r>
              <a:rPr sz="1350" b="0">
                <a:solidFill>
                  <a:srgbClr val="4A4A4A"/>
                </a:solidFill>
                <a:latin typeface="Space Grotesk"/>
              </a:rPr>
              <a:t>puntos de MAE de la ajustada; mejora significativa por bootstrap</a:t>
            </a:r>
          </a:p>
        </p:txBody>
      </p:sp>
      <p:sp>
        <p:nvSpPr>
          <p:cNvPr id="29" name="Rectangle 28"/>
          <p:cNvSpPr/>
          <p:nvPr/>
        </p:nvSpPr>
        <p:spPr>
          <a:xfrm>
            <a:off x="621792" y="4965192"/>
            <a:ext cx="7306056" cy="13258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92040"/>
            <a:ext cx="7306056" cy="132588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5010912"/>
            <a:ext cx="6949440" cy="1188720"/>
          </a:xfrm>
          <a:prstGeom prst="rect">
            <a:avLst/>
          </a:prstGeom>
          <a:noFill/>
        </p:spPr>
        <p:txBody>
          <a:bodyPr wrap="square" anchor="t" lIns="0" rIns="0" tIns="0" bIns="0">
            <a:spAutoFit/>
          </a:bodyPr>
          <a:lstStyle/>
          <a:p>
            <a:pPr algn="l">
              <a:lnSpc>
                <a:spcPct val="110000"/>
              </a:lnSpc>
            </a:pPr>
            <a:r>
              <a:rPr sz="1500" b="0">
                <a:solidFill>
                  <a:srgbClr val="000000"/>
                </a:solidFill>
                <a:latin typeface="Archivo Black"/>
              </a:rPr>
              <a:t>Receta ajustada</a:t>
            </a:r>
          </a:p>
          <a:p>
            <a:pPr algn="l">
              <a:lnSpc>
                <a:spcPct val="110000"/>
              </a:lnSpc>
            </a:pPr>
            <a:r>
              <a:rPr sz="1300" b="0">
                <a:solidFill>
                  <a:srgbClr val="4A4A4A"/>
                </a:solidFill>
                <a:latin typeface="Space Grotesk"/>
              </a:rPr>
              <a:t>Toda la red con tasas por capa  ·  programa coseno de 10 épocas  ·  entrada de 320 px  ·  promedio con la imagen reflejada</a:t>
            </a:r>
          </a:p>
        </p:txBody>
      </p:sp>
      <p:sp>
        <p:nvSpPr>
          <p:cNvPr id="32" name="Rectangle 31"/>
          <p:cNvSpPr/>
          <p:nvPr/>
        </p:nvSpPr>
        <p:spPr>
          <a:xfrm>
            <a:off x="8211312" y="4965192"/>
            <a:ext cx="3502152" cy="13258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38160" y="4892040"/>
            <a:ext cx="3502152" cy="132588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1040" y="5010912"/>
            <a:ext cx="3154680" cy="1188720"/>
          </a:xfrm>
          <a:prstGeom prst="rect">
            <a:avLst/>
          </a:prstGeom>
          <a:noFill/>
        </p:spPr>
        <p:txBody>
          <a:bodyPr wrap="square" anchor="t" lIns="0" rIns="0" tIns="0" bIns="0">
            <a:spAutoFit/>
          </a:bodyPr>
          <a:lstStyle/>
          <a:p>
            <a:pPr algn="l">
              <a:lnSpc>
                <a:spcPct val="110000"/>
              </a:lnSpc>
            </a:pPr>
            <a:r>
              <a:rPr sz="1300" b="0">
                <a:solidFill>
                  <a:srgbClr val="000000"/>
                </a:solidFill>
                <a:latin typeface="Archivo Black"/>
              </a:rPr>
              <a:t>El cambio que más ayudó</a:t>
            </a:r>
          </a:p>
          <a:p>
            <a:pPr algn="l">
              <a:lnSpc>
                <a:spcPct val="110000"/>
              </a:lnSpc>
            </a:pPr>
            <a:r>
              <a:rPr sz="1250" b="0">
                <a:solidFill>
                  <a:srgbClr val="4A4A4A"/>
                </a:solidFill>
                <a:latin typeface="Space Grotesk"/>
              </a:rPr>
              <a:t>320 px: 17.43 de RMSE en validación</a:t>
            </a:r>
          </a:p>
          <a:p>
            <a:pPr algn="l">
              <a:lnSpc>
                <a:spcPct val="110000"/>
              </a:lnSpc>
            </a:pPr>
            <a:r>
              <a:rPr sz="1250" b="0">
                <a:solidFill>
                  <a:srgbClr val="4A4A4A"/>
                </a:solidFill>
                <a:latin typeface="Space Grotesk"/>
              </a:rPr>
              <a:t>224 px: 18.39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56032"/>
            <a:ext cx="384048" cy="384048"/>
          </a:xfrm>
          <a:prstGeom prst="rect">
            <a:avLst/>
          </a:prstGeom>
          <a:solidFill>
            <a:srgbClr val="2E6F40"/>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2406" y="302117"/>
            <a:ext cx="276515" cy="268834"/>
          </a:xfrm>
          <a:custGeom>
            <a:avLst/>
            <a:gdLst/>
            <a:ahLst/>
            <a:cxnLst/>
            <a:rect l="l" t="t" r="r" b="b"/>
            <a:pathLst>
              <a:path w="276515" h="268834">
                <a:moveTo>
                  <a:pt x="138258" y="268834"/>
                </a:moveTo>
                <a:lnTo>
                  <a:pt x="138258" y="80650"/>
                </a:lnTo>
                <a:lnTo>
                  <a:pt x="53767" y="30724"/>
                </a:lnTo>
                <a:lnTo>
                  <a:pt x="0" y="99853"/>
                </a:lnTo>
                <a:lnTo>
                  <a:pt x="138258" y="153619"/>
                </a:lnTo>
                <a:lnTo>
                  <a:pt x="138258" y="80650"/>
                </a:lnTo>
                <a:lnTo>
                  <a:pt x="238110" y="0"/>
                </a:lnTo>
                <a:lnTo>
                  <a:pt x="276515" y="80650"/>
                </a:lnTo>
                <a:lnTo>
                  <a:pt x="138258" y="126736"/>
                </a:lnTo>
                <a:lnTo>
                  <a:pt x="138258" y="268834"/>
                </a:lnTo>
              </a:path>
            </a:pathLst>
          </a:custGeom>
          <a:no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46888"/>
            <a:ext cx="3657600" cy="274320"/>
          </a:xfrm>
          <a:prstGeom prst="rect">
            <a:avLst/>
          </a:prstGeom>
          <a:noFill/>
        </p:spPr>
        <p:txBody>
          <a:bodyPr wrap="square" anchor="t" lIns="0" rIns="0" tIns="0" bIns="0">
            <a:spAutoFit/>
          </a:bodyPr>
          <a:lstStyle/>
          <a:p>
            <a:pPr algn="l">
              <a:lnSpc>
                <a:spcPct val="110000"/>
              </a:lnSpc>
            </a:pPr>
            <a:r>
              <a:rPr sz="1500" b="0">
                <a:solidFill>
                  <a:srgbClr val="000000"/>
                </a:solidFill>
                <a:latin typeface="Archivo Black"/>
              </a:rPr>
              <a:t>Ojos en el campo</a:t>
            </a:r>
          </a:p>
        </p:txBody>
      </p:sp>
      <p:sp>
        <p:nvSpPr>
          <p:cNvPr id="6" name="TextBox 5"/>
          <p:cNvSpPr txBox="1"/>
          <p:nvPr/>
        </p:nvSpPr>
        <p:spPr>
          <a:xfrm>
            <a:off x="1051560" y="484632"/>
            <a:ext cx="3657600" cy="228600"/>
          </a:xfrm>
          <a:prstGeom prst="rect">
            <a:avLst/>
          </a:prstGeom>
          <a:noFill/>
        </p:spPr>
        <p:txBody>
          <a:bodyPr wrap="square" anchor="t" lIns="0" rIns="0" tIns="0" bIns="0">
            <a:spAutoFit/>
          </a:bodyPr>
          <a:lstStyle/>
          <a:p>
            <a:pPr algn="l">
              <a:lnSpc>
                <a:spcPct val="110000"/>
              </a:lnSpc>
            </a:pPr>
            <a:r>
              <a:rPr sz="1050" b="0">
                <a:solidFill>
                  <a:srgbClr val="4A4A4A"/>
                </a:solidFill>
                <a:latin typeface="Space Grotesk"/>
              </a:rPr>
              <a:t>Daño por sequía en cultivos</a:t>
            </a:r>
          </a:p>
        </p:txBody>
      </p:sp>
      <p:sp>
        <p:nvSpPr>
          <p:cNvPr id="7" name="TextBox 6"/>
          <p:cNvSpPr txBox="1"/>
          <p:nvPr/>
        </p:nvSpPr>
        <p:spPr>
          <a:xfrm>
            <a:off x="8412480" y="329184"/>
            <a:ext cx="3246120" cy="274320"/>
          </a:xfrm>
          <a:prstGeom prst="rect">
            <a:avLst/>
          </a:prstGeom>
          <a:noFill/>
        </p:spPr>
        <p:txBody>
          <a:bodyPr wrap="square" anchor="t" lIns="0" rIns="0" tIns="0" bIns="0">
            <a:spAutoFit/>
          </a:bodyPr>
          <a:lstStyle/>
          <a:p>
            <a:pPr algn="r">
              <a:lnSpc>
                <a:spcPct val="110000"/>
              </a:lnSpc>
            </a:pPr>
            <a:r>
              <a:rPr sz="1200" b="0">
                <a:solidFill>
                  <a:srgbClr val="000000"/>
                </a:solidFill>
                <a:latin typeface="Archivo Black"/>
              </a:rPr>
              <a:t>07 / 12</a:t>
            </a:r>
          </a:p>
        </p:txBody>
      </p:sp>
      <p:sp>
        <p:nvSpPr>
          <p:cNvPr id="8" name="Rectangle 7"/>
          <p:cNvSpPr/>
          <p:nvPr/>
        </p:nvSpPr>
        <p:spPr>
          <a:xfrm>
            <a:off x="0" y="822960"/>
            <a:ext cx="12191695"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10528"/>
            <a:ext cx="12191695" cy="3474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83680"/>
            <a:ext cx="11064240" cy="228600"/>
          </a:xfrm>
          <a:prstGeom prst="rect">
            <a:avLst/>
          </a:prstGeom>
          <a:noFill/>
        </p:spPr>
        <p:txBody>
          <a:bodyPr wrap="square" anchor="t" lIns="0" rIns="0" tIns="0" bIns="0">
            <a:spAutoFit/>
          </a:bodyPr>
          <a:lstStyle/>
          <a:p>
            <a:pPr algn="ctr">
              <a:lnSpc>
                <a:spcPct val="110000"/>
              </a:lnSpc>
            </a:pPr>
            <a:r>
              <a:rPr sz="1050" b="0">
                <a:solidFill>
                  <a:srgbClr val="FFFFFF"/>
                </a:solidFill>
                <a:latin typeface="Space Grotesk"/>
              </a:rPr>
              <a:t>CC3084 Data Science  ·  CGIAR Eyes on the Ground  ·  Universidad del Valle de Guatemala</a:t>
            </a:r>
          </a:p>
        </p:txBody>
      </p:sp>
      <p:sp>
        <p:nvSpPr>
          <p:cNvPr id="11" name="Rectangle 10"/>
          <p:cNvSpPr/>
          <p:nvPr/>
        </p:nvSpPr>
        <p:spPr>
          <a:xfrm>
            <a:off x="594360" y="1143000"/>
            <a:ext cx="1828800"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097280"/>
            <a:ext cx="1828800" cy="310896"/>
          </a:xfrm>
          <a:prstGeom prst="rect">
            <a:avLst/>
          </a:prstGeom>
          <a:solidFill>
            <a:srgbClr val="C9A227"/>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097280"/>
            <a:ext cx="1828800" cy="310896"/>
          </a:xfrm>
          <a:prstGeom prst="rect">
            <a:avLst/>
          </a:prstGeom>
          <a:noFill/>
        </p:spPr>
        <p:txBody>
          <a:bodyPr wrap="square" anchor="ctr" lIns="0" rIns="0" tIns="0" bIns="0">
            <a:spAutoFit/>
          </a:bodyPr>
          <a:lstStyle/>
          <a:p>
            <a:pPr algn="ctr">
              <a:lnSpc>
                <a:spcPct val="110000"/>
              </a:lnSpc>
            </a:pPr>
            <a:r>
              <a:rPr sz="1100" b="0">
                <a:solidFill>
                  <a:srgbClr val="000000"/>
                </a:solidFill>
                <a:latin typeface="Archivo Black"/>
              </a:rPr>
              <a:t>06 · DENSENET121</a:t>
            </a:r>
          </a:p>
        </p:txBody>
      </p:sp>
      <p:sp>
        <p:nvSpPr>
          <p:cNvPr id="14" name="TextBox 13"/>
          <p:cNvSpPr txBox="1"/>
          <p:nvPr/>
        </p:nvSpPr>
        <p:spPr>
          <a:xfrm>
            <a:off x="548640" y="1536192"/>
            <a:ext cx="11064240" cy="685800"/>
          </a:xfrm>
          <a:prstGeom prst="rect">
            <a:avLst/>
          </a:prstGeom>
          <a:noFill/>
        </p:spPr>
        <p:txBody>
          <a:bodyPr wrap="square" anchor="t" lIns="0" rIns="0" tIns="0" bIns="0">
            <a:spAutoFit/>
          </a:bodyPr>
          <a:lstStyle/>
          <a:p>
            <a:pPr algn="l">
              <a:lnSpc>
                <a:spcPct val="100000"/>
              </a:lnSpc>
            </a:pPr>
            <a:r>
              <a:rPr sz="3000" b="0">
                <a:solidFill>
                  <a:srgbClr val="000000"/>
                </a:solidFill>
                <a:latin typeface="Archivo Black"/>
              </a:rPr>
              <a:t>DenseNet121 quedó un punto detrás de ResNet50</a:t>
            </a:r>
          </a:p>
        </p:txBody>
      </p:sp>
      <p:sp>
        <p:nvSpPr>
          <p:cNvPr id="15" name="TextBox 14"/>
          <p:cNvSpPr txBox="1"/>
          <p:nvPr/>
        </p:nvSpPr>
        <p:spPr>
          <a:xfrm>
            <a:off x="548640" y="2240280"/>
            <a:ext cx="11064240" cy="411480"/>
          </a:xfrm>
          <a:prstGeom prst="rect">
            <a:avLst/>
          </a:prstGeom>
          <a:noFill/>
        </p:spPr>
        <p:txBody>
          <a:bodyPr wrap="square" anchor="t" lIns="0" rIns="0" tIns="0" bIns="0">
            <a:spAutoFit/>
          </a:bodyPr>
          <a:lstStyle/>
          <a:p>
            <a:pPr algn="l">
              <a:lnSpc>
                <a:spcPct val="110000"/>
              </a:lnSpc>
            </a:pPr>
            <a:r>
              <a:rPr sz="1450" b="0">
                <a:solidFill>
                  <a:srgbClr val="4A4A4A"/>
                </a:solidFill>
                <a:latin typeface="Space Grotesk"/>
              </a:rPr>
              <a:t>Mismo procedimiento que la ResNet50, para que la diferencia refleje solo la arquitectura.</a:t>
            </a:r>
          </a:p>
        </p:txBody>
      </p:sp>
      <p:sp>
        <p:nvSpPr>
          <p:cNvPr id="16" name="Rectangle 15"/>
          <p:cNvSpPr/>
          <p:nvPr/>
        </p:nvSpPr>
        <p:spPr>
          <a:xfrm>
            <a:off x="548640" y="2724912"/>
            <a:ext cx="11091672"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 y="3090672"/>
            <a:ext cx="2743200" cy="15544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20"/>
            <a:ext cx="2743200" cy="155448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3182112"/>
            <a:ext cx="2340864" cy="685800"/>
          </a:xfrm>
          <a:prstGeom prst="rect">
            <a:avLst/>
          </a:prstGeom>
          <a:noFill/>
        </p:spPr>
        <p:txBody>
          <a:bodyPr wrap="square" anchor="t" lIns="0" rIns="0" tIns="0" bIns="0">
            <a:spAutoFit/>
          </a:bodyPr>
          <a:lstStyle/>
          <a:p>
            <a:pPr algn="l">
              <a:lnSpc>
                <a:spcPct val="110000"/>
              </a:lnSpc>
            </a:pPr>
            <a:r>
              <a:rPr sz="3400" b="0">
                <a:solidFill>
                  <a:srgbClr val="000000"/>
                </a:solidFill>
                <a:latin typeface="Archivo Black"/>
              </a:rPr>
              <a:t>19.36</a:t>
            </a:r>
          </a:p>
        </p:txBody>
      </p:sp>
      <p:sp>
        <p:nvSpPr>
          <p:cNvPr id="20" name="TextBox 19"/>
          <p:cNvSpPr txBox="1"/>
          <p:nvPr/>
        </p:nvSpPr>
        <p:spPr>
          <a:xfrm>
            <a:off x="749808" y="3723639"/>
            <a:ext cx="2340864" cy="665480"/>
          </a:xfrm>
          <a:prstGeom prst="rect">
            <a:avLst/>
          </a:prstGeom>
          <a:noFill/>
        </p:spPr>
        <p:txBody>
          <a:bodyPr wrap="square" anchor="t" lIns="0" rIns="0" tIns="0" bIns="0">
            <a:spAutoFit/>
          </a:bodyPr>
          <a:lstStyle/>
          <a:p>
            <a:pPr algn="l">
              <a:lnSpc>
                <a:spcPct val="110000"/>
              </a:lnSpc>
            </a:pPr>
            <a:r>
              <a:rPr sz="1350" b="0">
                <a:solidFill>
                  <a:srgbClr val="4A4A4A"/>
                </a:solidFill>
                <a:latin typeface="Space Grotesk"/>
              </a:rPr>
              <a:t>RMSE de DenseNet121 en la prueba</a:t>
            </a:r>
          </a:p>
        </p:txBody>
      </p:sp>
      <p:sp>
        <p:nvSpPr>
          <p:cNvPr id="21" name="Rectangle 20"/>
          <p:cNvSpPr/>
          <p:nvPr/>
        </p:nvSpPr>
        <p:spPr>
          <a:xfrm>
            <a:off x="3593592" y="3090672"/>
            <a:ext cx="2743200" cy="15544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520440" y="3017520"/>
            <a:ext cx="2743200" cy="155448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21608" y="3182112"/>
            <a:ext cx="2340864" cy="685800"/>
          </a:xfrm>
          <a:prstGeom prst="rect">
            <a:avLst/>
          </a:prstGeom>
          <a:noFill/>
        </p:spPr>
        <p:txBody>
          <a:bodyPr wrap="square" anchor="t" lIns="0" rIns="0" tIns="0" bIns="0">
            <a:spAutoFit/>
          </a:bodyPr>
          <a:lstStyle/>
          <a:p>
            <a:pPr algn="l">
              <a:lnSpc>
                <a:spcPct val="110000"/>
              </a:lnSpc>
            </a:pPr>
            <a:r>
              <a:rPr sz="3400" b="0">
                <a:solidFill>
                  <a:srgbClr val="000000"/>
                </a:solidFill>
                <a:latin typeface="Archivo Black"/>
              </a:rPr>
              <a:t>8 M</a:t>
            </a:r>
          </a:p>
        </p:txBody>
      </p:sp>
      <p:sp>
        <p:nvSpPr>
          <p:cNvPr id="24" name="TextBox 23"/>
          <p:cNvSpPr txBox="1"/>
          <p:nvPr/>
        </p:nvSpPr>
        <p:spPr>
          <a:xfrm>
            <a:off x="3721608" y="3723639"/>
            <a:ext cx="2340864" cy="665480"/>
          </a:xfrm>
          <a:prstGeom prst="rect">
            <a:avLst/>
          </a:prstGeom>
          <a:noFill/>
        </p:spPr>
        <p:txBody>
          <a:bodyPr wrap="square" anchor="t" lIns="0" rIns="0" tIns="0" bIns="0">
            <a:spAutoFit/>
          </a:bodyPr>
          <a:lstStyle/>
          <a:p>
            <a:pPr algn="l">
              <a:lnSpc>
                <a:spcPct val="110000"/>
              </a:lnSpc>
            </a:pPr>
            <a:r>
              <a:rPr sz="1350" b="0">
                <a:solidFill>
                  <a:srgbClr val="4A4A4A"/>
                </a:solidFill>
                <a:latin typeface="Space Grotesk"/>
              </a:rPr>
              <a:t>parámetros; ResNet50 tiene 25.6 M</a:t>
            </a:r>
          </a:p>
        </p:txBody>
      </p:sp>
      <p:sp>
        <p:nvSpPr>
          <p:cNvPr id="25" name="Rectangle 24"/>
          <p:cNvSpPr/>
          <p:nvPr/>
        </p:nvSpPr>
        <p:spPr>
          <a:xfrm>
            <a:off x="621792" y="4873752"/>
            <a:ext cx="5715000" cy="14173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800600"/>
            <a:ext cx="5715000" cy="1417320"/>
          </a:xfrm>
          <a:prstGeom prst="rect">
            <a:avLst/>
          </a:prstGeom>
          <a:solidFill>
            <a:srgbClr val="EDE1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965192"/>
            <a:ext cx="5312664" cy="685800"/>
          </a:xfrm>
          <a:prstGeom prst="rect">
            <a:avLst/>
          </a:prstGeom>
          <a:noFill/>
        </p:spPr>
        <p:txBody>
          <a:bodyPr wrap="square" anchor="t" lIns="0" rIns="0" tIns="0" bIns="0">
            <a:spAutoFit/>
          </a:bodyPr>
          <a:lstStyle/>
          <a:p>
            <a:pPr algn="l">
              <a:lnSpc>
                <a:spcPct val="110000"/>
              </a:lnSpc>
            </a:pPr>
            <a:r>
              <a:rPr sz="3000" b="0">
                <a:solidFill>
                  <a:srgbClr val="000000"/>
                </a:solidFill>
                <a:latin typeface="Archivo Black"/>
              </a:rPr>
              <a:t>+1.02</a:t>
            </a:r>
          </a:p>
        </p:txBody>
      </p:sp>
      <p:sp>
        <p:nvSpPr>
          <p:cNvPr id="28" name="TextBox 27"/>
          <p:cNvSpPr txBox="1"/>
          <p:nvPr/>
        </p:nvSpPr>
        <p:spPr>
          <a:xfrm>
            <a:off x="749808" y="5455920"/>
            <a:ext cx="5312664" cy="579120"/>
          </a:xfrm>
          <a:prstGeom prst="rect">
            <a:avLst/>
          </a:prstGeom>
          <a:noFill/>
        </p:spPr>
        <p:txBody>
          <a:bodyPr wrap="square" anchor="t" lIns="0" rIns="0" tIns="0" bIns="0">
            <a:spAutoFit/>
          </a:bodyPr>
          <a:lstStyle/>
          <a:p>
            <a:pPr algn="l">
              <a:lnSpc>
                <a:spcPct val="110000"/>
              </a:lnSpc>
            </a:pPr>
            <a:r>
              <a:rPr sz="1350" b="0">
                <a:solidFill>
                  <a:srgbClr val="4A4A4A"/>
                </a:solidFill>
                <a:latin typeface="Space Grotesk"/>
              </a:rPr>
              <a:t>puntos de RMSE frente a ResNet50, diferencia significativa (IC 95 %: 0.38 a 1.65)</a:t>
            </a:r>
          </a:p>
        </p:txBody>
      </p:sp>
      <p:sp>
        <p:nvSpPr>
          <p:cNvPr id="29" name="Rectangle 28"/>
          <p:cNvSpPr/>
          <p:nvPr/>
        </p:nvSpPr>
        <p:spPr>
          <a:xfrm>
            <a:off x="6611112" y="3090672"/>
            <a:ext cx="5102352" cy="21488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960" y="3017520"/>
            <a:ext cx="5102352" cy="214884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configuraciones_densenet.png"/>
          <p:cNvPicPr>
            <a:picLocks noChangeAspect="1"/>
          </p:cNvPicPr>
          <p:nvPr/>
        </p:nvPicPr>
        <p:blipFill>
          <a:blip r:embed="rId2"/>
          <a:stretch>
            <a:fillRect/>
          </a:stretch>
        </p:blipFill>
        <p:spPr>
          <a:xfrm>
            <a:off x="6837881" y="3108960"/>
            <a:ext cx="4502508" cy="1965960"/>
          </a:xfrm>
          <a:prstGeom prst="rect">
            <a:avLst/>
          </a:prstGeom>
        </p:spPr>
      </p:pic>
      <p:sp>
        <p:nvSpPr>
          <p:cNvPr id="32" name="Rectangle 31"/>
          <p:cNvSpPr/>
          <p:nvPr/>
        </p:nvSpPr>
        <p:spPr>
          <a:xfrm>
            <a:off x="6611112" y="5422392"/>
            <a:ext cx="5102352"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37960" y="5349240"/>
            <a:ext cx="5102352" cy="86868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20840" y="5422392"/>
            <a:ext cx="4754880" cy="777240"/>
          </a:xfrm>
          <a:prstGeom prst="rect">
            <a:avLst/>
          </a:prstGeom>
          <a:noFill/>
        </p:spPr>
        <p:txBody>
          <a:bodyPr wrap="square" anchor="t" lIns="0" rIns="0" tIns="0" bIns="0">
            <a:spAutoFit/>
          </a:bodyPr>
          <a:lstStyle/>
          <a:p>
            <a:pPr algn="l">
              <a:lnSpc>
                <a:spcPct val="110000"/>
              </a:lnSpc>
            </a:pPr>
            <a:r>
              <a:rPr sz="1200" b="1">
                <a:solidFill>
                  <a:srgbClr val="000000"/>
                </a:solidFill>
                <a:latin typeface="Space Grotesk"/>
              </a:rPr>
              <a:t>Mejor configuración: solo la capa de salida, tasa 3 × 10⁻⁴, 14 épocas. </a:t>
            </a:r>
            <a:r>
              <a:rPr sz="1200" b="0">
                <a:solidFill>
                  <a:srgbClr val="4A4A4A"/>
                </a:solidFill>
                <a:latin typeface="Space Grotesk"/>
              </a:rPr>
              <a:t>Al ajustar el último bloque denso, sobreajustó desde la época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56032"/>
            <a:ext cx="384048" cy="384048"/>
          </a:xfrm>
          <a:prstGeom prst="rect">
            <a:avLst/>
          </a:prstGeom>
          <a:solidFill>
            <a:srgbClr val="2E6F40"/>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2406" y="302117"/>
            <a:ext cx="276515" cy="268834"/>
          </a:xfrm>
          <a:custGeom>
            <a:avLst/>
            <a:gdLst/>
            <a:ahLst/>
            <a:cxnLst/>
            <a:rect l="l" t="t" r="r" b="b"/>
            <a:pathLst>
              <a:path w="276515" h="268834">
                <a:moveTo>
                  <a:pt x="138258" y="268834"/>
                </a:moveTo>
                <a:lnTo>
                  <a:pt x="138258" y="80650"/>
                </a:lnTo>
                <a:lnTo>
                  <a:pt x="53767" y="30724"/>
                </a:lnTo>
                <a:lnTo>
                  <a:pt x="0" y="99853"/>
                </a:lnTo>
                <a:lnTo>
                  <a:pt x="138258" y="153619"/>
                </a:lnTo>
                <a:lnTo>
                  <a:pt x="138258" y="80650"/>
                </a:lnTo>
                <a:lnTo>
                  <a:pt x="238110" y="0"/>
                </a:lnTo>
                <a:lnTo>
                  <a:pt x="276515" y="80650"/>
                </a:lnTo>
                <a:lnTo>
                  <a:pt x="138258" y="126736"/>
                </a:lnTo>
                <a:lnTo>
                  <a:pt x="138258" y="268834"/>
                </a:lnTo>
              </a:path>
            </a:pathLst>
          </a:custGeom>
          <a:no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46888"/>
            <a:ext cx="3657600" cy="274320"/>
          </a:xfrm>
          <a:prstGeom prst="rect">
            <a:avLst/>
          </a:prstGeom>
          <a:noFill/>
        </p:spPr>
        <p:txBody>
          <a:bodyPr wrap="square" anchor="t" lIns="0" rIns="0" tIns="0" bIns="0">
            <a:spAutoFit/>
          </a:bodyPr>
          <a:lstStyle/>
          <a:p>
            <a:pPr algn="l">
              <a:lnSpc>
                <a:spcPct val="110000"/>
              </a:lnSpc>
            </a:pPr>
            <a:r>
              <a:rPr sz="1500" b="0">
                <a:solidFill>
                  <a:srgbClr val="000000"/>
                </a:solidFill>
                <a:latin typeface="Archivo Black"/>
              </a:rPr>
              <a:t>Ojos en el campo</a:t>
            </a:r>
          </a:p>
        </p:txBody>
      </p:sp>
      <p:sp>
        <p:nvSpPr>
          <p:cNvPr id="6" name="TextBox 5"/>
          <p:cNvSpPr txBox="1"/>
          <p:nvPr/>
        </p:nvSpPr>
        <p:spPr>
          <a:xfrm>
            <a:off x="1051560" y="484632"/>
            <a:ext cx="3657600" cy="228600"/>
          </a:xfrm>
          <a:prstGeom prst="rect">
            <a:avLst/>
          </a:prstGeom>
          <a:noFill/>
        </p:spPr>
        <p:txBody>
          <a:bodyPr wrap="square" anchor="t" lIns="0" rIns="0" tIns="0" bIns="0">
            <a:spAutoFit/>
          </a:bodyPr>
          <a:lstStyle/>
          <a:p>
            <a:pPr algn="l">
              <a:lnSpc>
                <a:spcPct val="110000"/>
              </a:lnSpc>
            </a:pPr>
            <a:r>
              <a:rPr sz="1050" b="0">
                <a:solidFill>
                  <a:srgbClr val="4A4A4A"/>
                </a:solidFill>
                <a:latin typeface="Space Grotesk"/>
              </a:rPr>
              <a:t>Daño por sequía en cultivos</a:t>
            </a:r>
          </a:p>
        </p:txBody>
      </p:sp>
      <p:sp>
        <p:nvSpPr>
          <p:cNvPr id="7" name="TextBox 6"/>
          <p:cNvSpPr txBox="1"/>
          <p:nvPr/>
        </p:nvSpPr>
        <p:spPr>
          <a:xfrm>
            <a:off x="8412480" y="329184"/>
            <a:ext cx="3246120" cy="274320"/>
          </a:xfrm>
          <a:prstGeom prst="rect">
            <a:avLst/>
          </a:prstGeom>
          <a:noFill/>
        </p:spPr>
        <p:txBody>
          <a:bodyPr wrap="square" anchor="t" lIns="0" rIns="0" tIns="0" bIns="0">
            <a:spAutoFit/>
          </a:bodyPr>
          <a:lstStyle/>
          <a:p>
            <a:pPr algn="r">
              <a:lnSpc>
                <a:spcPct val="110000"/>
              </a:lnSpc>
            </a:pPr>
            <a:r>
              <a:rPr sz="1200" b="0">
                <a:solidFill>
                  <a:srgbClr val="000000"/>
                </a:solidFill>
                <a:latin typeface="Archivo Black"/>
              </a:rPr>
              <a:t>08 / 12</a:t>
            </a:r>
          </a:p>
        </p:txBody>
      </p:sp>
      <p:sp>
        <p:nvSpPr>
          <p:cNvPr id="8" name="Rectangle 7"/>
          <p:cNvSpPr/>
          <p:nvPr/>
        </p:nvSpPr>
        <p:spPr>
          <a:xfrm>
            <a:off x="0" y="822960"/>
            <a:ext cx="12191695"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10528"/>
            <a:ext cx="12191695" cy="3474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83680"/>
            <a:ext cx="11064240" cy="228600"/>
          </a:xfrm>
          <a:prstGeom prst="rect">
            <a:avLst/>
          </a:prstGeom>
          <a:noFill/>
        </p:spPr>
        <p:txBody>
          <a:bodyPr wrap="square" anchor="t" lIns="0" rIns="0" tIns="0" bIns="0">
            <a:spAutoFit/>
          </a:bodyPr>
          <a:lstStyle/>
          <a:p>
            <a:pPr algn="ctr">
              <a:lnSpc>
                <a:spcPct val="110000"/>
              </a:lnSpc>
            </a:pPr>
            <a:r>
              <a:rPr sz="1050" b="0">
                <a:solidFill>
                  <a:srgbClr val="FFFFFF"/>
                </a:solidFill>
                <a:latin typeface="Space Grotesk"/>
              </a:rPr>
              <a:t>CC3084 Data Science  ·  CGIAR Eyes on the Ground  ·  Universidad del Valle de Guatemala</a:t>
            </a:r>
          </a:p>
        </p:txBody>
      </p:sp>
      <p:sp>
        <p:nvSpPr>
          <p:cNvPr id="11" name="Rectangle 10"/>
          <p:cNvSpPr/>
          <p:nvPr/>
        </p:nvSpPr>
        <p:spPr>
          <a:xfrm>
            <a:off x="594360" y="1143000"/>
            <a:ext cx="1828800"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097280"/>
            <a:ext cx="1828800" cy="310896"/>
          </a:xfrm>
          <a:prstGeom prst="rect">
            <a:avLst/>
          </a:prstGeom>
          <a:solidFill>
            <a:srgbClr val="C9A227"/>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097280"/>
            <a:ext cx="1828800" cy="310896"/>
          </a:xfrm>
          <a:prstGeom prst="rect">
            <a:avLst/>
          </a:prstGeom>
          <a:noFill/>
        </p:spPr>
        <p:txBody>
          <a:bodyPr wrap="square" anchor="ctr" lIns="0" rIns="0" tIns="0" bIns="0">
            <a:spAutoFit/>
          </a:bodyPr>
          <a:lstStyle/>
          <a:p>
            <a:pPr algn="ctr">
              <a:lnSpc>
                <a:spcPct val="110000"/>
              </a:lnSpc>
            </a:pPr>
            <a:r>
              <a:rPr sz="1100" b="0">
                <a:solidFill>
                  <a:srgbClr val="000000"/>
                </a:solidFill>
                <a:latin typeface="Archivo Black"/>
              </a:rPr>
              <a:t>07 · COMPARACIÓN</a:t>
            </a:r>
          </a:p>
        </p:txBody>
      </p:sp>
      <p:sp>
        <p:nvSpPr>
          <p:cNvPr id="14" name="TextBox 13"/>
          <p:cNvSpPr txBox="1"/>
          <p:nvPr/>
        </p:nvSpPr>
        <p:spPr>
          <a:xfrm>
            <a:off x="548640" y="1536192"/>
            <a:ext cx="11064240" cy="685800"/>
          </a:xfrm>
          <a:prstGeom prst="rect">
            <a:avLst/>
          </a:prstGeom>
          <a:noFill/>
        </p:spPr>
        <p:txBody>
          <a:bodyPr wrap="square" anchor="t" lIns="0" rIns="0" tIns="0" bIns="0">
            <a:spAutoFit/>
          </a:bodyPr>
          <a:lstStyle/>
          <a:p>
            <a:pPr algn="l">
              <a:lnSpc>
                <a:spcPct val="100000"/>
              </a:lnSpc>
            </a:pPr>
            <a:r>
              <a:rPr sz="3000" b="0">
                <a:solidFill>
                  <a:srgbClr val="000000"/>
                </a:solidFill>
                <a:latin typeface="Archivo Black"/>
              </a:rPr>
              <a:t>Las redes bajan hasta 26 % el error de referencia</a:t>
            </a:r>
          </a:p>
        </p:txBody>
      </p:sp>
      <p:sp>
        <p:nvSpPr>
          <p:cNvPr id="15" name="TextBox 14"/>
          <p:cNvSpPr txBox="1"/>
          <p:nvPr/>
        </p:nvSpPr>
        <p:spPr>
          <a:xfrm>
            <a:off x="548640" y="2240280"/>
            <a:ext cx="11064240" cy="411480"/>
          </a:xfrm>
          <a:prstGeom prst="rect">
            <a:avLst/>
          </a:prstGeom>
          <a:noFill/>
        </p:spPr>
        <p:txBody>
          <a:bodyPr wrap="square" anchor="t" lIns="0" rIns="0" tIns="0" bIns="0">
            <a:spAutoFit/>
          </a:bodyPr>
          <a:lstStyle/>
          <a:p>
            <a:pPr algn="l">
              <a:lnSpc>
                <a:spcPct val="110000"/>
              </a:lnSpc>
            </a:pPr>
            <a:r>
              <a:rPr sz="1450" b="0">
                <a:solidFill>
                  <a:srgbClr val="4A4A4A"/>
                </a:solidFill>
                <a:latin typeface="Space Grotesk"/>
              </a:rPr>
              <a:t>RMSE sobre las 834 fotos con sequía de prueba: menor es mejor.</a:t>
            </a:r>
          </a:p>
        </p:txBody>
      </p:sp>
      <p:sp>
        <p:nvSpPr>
          <p:cNvPr id="16" name="Rectangle 15"/>
          <p:cNvSpPr/>
          <p:nvPr/>
        </p:nvSpPr>
        <p:spPr>
          <a:xfrm>
            <a:off x="548640" y="2724912"/>
            <a:ext cx="11091672"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 y="3090672"/>
            <a:ext cx="7589520" cy="3200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20"/>
            <a:ext cx="7589520" cy="320040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omparacion_rmse.png"/>
          <p:cNvPicPr>
            <a:picLocks noChangeAspect="1"/>
          </p:cNvPicPr>
          <p:nvPr/>
        </p:nvPicPr>
        <p:blipFill>
          <a:blip r:embed="rId2"/>
          <a:stretch>
            <a:fillRect/>
          </a:stretch>
        </p:blipFill>
        <p:spPr>
          <a:xfrm>
            <a:off x="927126" y="3154679"/>
            <a:ext cx="6832547" cy="2926080"/>
          </a:xfrm>
          <a:prstGeom prst="rect">
            <a:avLst/>
          </a:prstGeom>
        </p:spPr>
      </p:pic>
      <p:sp>
        <p:nvSpPr>
          <p:cNvPr id="20" name="Rectangle 19"/>
          <p:cNvSpPr/>
          <p:nvPr/>
        </p:nvSpPr>
        <p:spPr>
          <a:xfrm>
            <a:off x="8531352" y="3090672"/>
            <a:ext cx="3182112" cy="1143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58200" y="3017520"/>
            <a:ext cx="3182112" cy="1143000"/>
          </a:xfrm>
          <a:prstGeom prst="rect">
            <a:avLst/>
          </a:prstGeom>
          <a:solidFill>
            <a:srgbClr val="EDE1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59368" y="3182112"/>
            <a:ext cx="2779776" cy="685800"/>
          </a:xfrm>
          <a:prstGeom prst="rect">
            <a:avLst/>
          </a:prstGeom>
          <a:noFill/>
        </p:spPr>
        <p:txBody>
          <a:bodyPr wrap="square" anchor="t" lIns="0" rIns="0" tIns="0" bIns="0">
            <a:spAutoFit/>
          </a:bodyPr>
          <a:lstStyle/>
          <a:p>
            <a:pPr algn="l">
              <a:lnSpc>
                <a:spcPct val="110000"/>
              </a:lnSpc>
            </a:pPr>
            <a:r>
              <a:rPr sz="2400" b="0">
                <a:solidFill>
                  <a:srgbClr val="000000"/>
                </a:solidFill>
                <a:latin typeface="Archivo Black"/>
              </a:rPr>
              <a:t>−26 %</a:t>
            </a:r>
          </a:p>
        </p:txBody>
      </p:sp>
      <p:sp>
        <p:nvSpPr>
          <p:cNvPr id="23" name="TextBox 22"/>
          <p:cNvSpPr txBox="1"/>
          <p:nvPr/>
        </p:nvSpPr>
        <p:spPr>
          <a:xfrm>
            <a:off x="8659368" y="3596640"/>
            <a:ext cx="2779776" cy="381000"/>
          </a:xfrm>
          <a:prstGeom prst="rect">
            <a:avLst/>
          </a:prstGeom>
          <a:noFill/>
        </p:spPr>
        <p:txBody>
          <a:bodyPr wrap="square" anchor="t" lIns="0" rIns="0" tIns="0" bIns="0">
            <a:spAutoFit/>
          </a:bodyPr>
          <a:lstStyle/>
          <a:p>
            <a:pPr algn="l">
              <a:lnSpc>
                <a:spcPct val="110000"/>
              </a:lnSpc>
            </a:pPr>
            <a:r>
              <a:rPr sz="1350" b="0">
                <a:solidFill>
                  <a:srgbClr val="4A4A4A"/>
                </a:solidFill>
                <a:latin typeface="Space Grotesk"/>
              </a:rPr>
              <a:t>RMSE de la ajustada frente al constante</a:t>
            </a:r>
          </a:p>
        </p:txBody>
      </p:sp>
      <p:sp>
        <p:nvSpPr>
          <p:cNvPr id="24" name="Rectangle 23"/>
          <p:cNvSpPr/>
          <p:nvPr/>
        </p:nvSpPr>
        <p:spPr>
          <a:xfrm>
            <a:off x="8531352" y="4462272"/>
            <a:ext cx="3182112" cy="1828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58200" y="4389120"/>
            <a:ext cx="3182112" cy="182880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41080" y="4480560"/>
            <a:ext cx="2834640" cy="1874519"/>
          </a:xfrm>
          <a:prstGeom prst="rect">
            <a:avLst/>
          </a:prstGeom>
          <a:noFill/>
        </p:spPr>
        <p:txBody>
          <a:bodyPr wrap="square" anchor="t" lIns="0" rIns="0" tIns="0" bIns="0">
            <a:spAutoFit/>
          </a:bodyPr>
          <a:lstStyle/>
          <a:p>
            <a:pPr algn="l">
              <a:lnSpc>
                <a:spcPct val="115000"/>
              </a:lnSpc>
            </a:pPr>
            <a:r>
              <a:rPr sz="1300" b="0">
                <a:solidFill>
                  <a:srgbClr val="000000"/>
                </a:solidFill>
                <a:latin typeface="Archivo Black"/>
              </a:rPr>
              <a:t>Validación ≈ prueba</a:t>
            </a:r>
          </a:p>
          <a:p>
            <a:pPr algn="l">
              <a:lnSpc>
                <a:spcPct val="115000"/>
              </a:lnSpc>
            </a:pPr>
            <a:r>
              <a:rPr sz="1200" b="0">
                <a:solidFill>
                  <a:srgbClr val="4A4A4A"/>
                </a:solidFill>
                <a:latin typeface="Space Grotesk"/>
              </a:rPr>
              <a:t>ResNet50: 17.99 en validación y 18.33 en prueba.</a:t>
            </a:r>
          </a:p>
          <a:p>
            <a:pPr algn="l">
              <a:lnSpc>
                <a:spcPct val="115000"/>
              </a:lnSpc>
            </a:pPr>
            <a:r>
              <a:rPr sz="1300" b="0">
                <a:solidFill>
                  <a:srgbClr val="000000"/>
                </a:solidFill>
                <a:latin typeface="Archivo Black"/>
              </a:rPr>
              <a:t>SR2020, la temporada más difícil</a:t>
            </a:r>
          </a:p>
          <a:p>
            <a:pPr algn="l">
              <a:lnSpc>
                <a:spcPct val="115000"/>
              </a:lnSpc>
            </a:pPr>
            <a:r>
              <a:rPr sz="1200" b="0">
                <a:solidFill>
                  <a:srgbClr val="4A4A4A"/>
                </a:solidFill>
                <a:latin typeface="Space Grotesk"/>
              </a:rPr>
              <a:t>Todos los modelos fallan más ahí.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56032"/>
            <a:ext cx="384048" cy="384048"/>
          </a:xfrm>
          <a:prstGeom prst="rect">
            <a:avLst/>
          </a:prstGeom>
          <a:solidFill>
            <a:srgbClr val="2E6F40"/>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2406" y="302117"/>
            <a:ext cx="276515" cy="268834"/>
          </a:xfrm>
          <a:custGeom>
            <a:avLst/>
            <a:gdLst/>
            <a:ahLst/>
            <a:cxnLst/>
            <a:rect l="l" t="t" r="r" b="b"/>
            <a:pathLst>
              <a:path w="276515" h="268834">
                <a:moveTo>
                  <a:pt x="138258" y="268834"/>
                </a:moveTo>
                <a:lnTo>
                  <a:pt x="138258" y="80650"/>
                </a:lnTo>
                <a:lnTo>
                  <a:pt x="53767" y="30724"/>
                </a:lnTo>
                <a:lnTo>
                  <a:pt x="0" y="99853"/>
                </a:lnTo>
                <a:lnTo>
                  <a:pt x="138258" y="153619"/>
                </a:lnTo>
                <a:lnTo>
                  <a:pt x="138258" y="80650"/>
                </a:lnTo>
                <a:lnTo>
                  <a:pt x="238110" y="0"/>
                </a:lnTo>
                <a:lnTo>
                  <a:pt x="276515" y="80650"/>
                </a:lnTo>
                <a:lnTo>
                  <a:pt x="138258" y="126736"/>
                </a:lnTo>
                <a:lnTo>
                  <a:pt x="138258" y="268834"/>
                </a:lnTo>
              </a:path>
            </a:pathLst>
          </a:custGeom>
          <a:no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46888"/>
            <a:ext cx="3657600" cy="274320"/>
          </a:xfrm>
          <a:prstGeom prst="rect">
            <a:avLst/>
          </a:prstGeom>
          <a:noFill/>
        </p:spPr>
        <p:txBody>
          <a:bodyPr wrap="square" anchor="t" lIns="0" rIns="0" tIns="0" bIns="0">
            <a:spAutoFit/>
          </a:bodyPr>
          <a:lstStyle/>
          <a:p>
            <a:pPr algn="l">
              <a:lnSpc>
                <a:spcPct val="110000"/>
              </a:lnSpc>
            </a:pPr>
            <a:r>
              <a:rPr sz="1500" b="0">
                <a:solidFill>
                  <a:srgbClr val="000000"/>
                </a:solidFill>
                <a:latin typeface="Archivo Black"/>
              </a:rPr>
              <a:t>Ojos en el campo</a:t>
            </a:r>
          </a:p>
        </p:txBody>
      </p:sp>
      <p:sp>
        <p:nvSpPr>
          <p:cNvPr id="6" name="TextBox 5"/>
          <p:cNvSpPr txBox="1"/>
          <p:nvPr/>
        </p:nvSpPr>
        <p:spPr>
          <a:xfrm>
            <a:off x="1051560" y="484632"/>
            <a:ext cx="3657600" cy="228600"/>
          </a:xfrm>
          <a:prstGeom prst="rect">
            <a:avLst/>
          </a:prstGeom>
          <a:noFill/>
        </p:spPr>
        <p:txBody>
          <a:bodyPr wrap="square" anchor="t" lIns="0" rIns="0" tIns="0" bIns="0">
            <a:spAutoFit/>
          </a:bodyPr>
          <a:lstStyle/>
          <a:p>
            <a:pPr algn="l">
              <a:lnSpc>
                <a:spcPct val="110000"/>
              </a:lnSpc>
            </a:pPr>
            <a:r>
              <a:rPr sz="1050" b="0">
                <a:solidFill>
                  <a:srgbClr val="4A4A4A"/>
                </a:solidFill>
                <a:latin typeface="Space Grotesk"/>
              </a:rPr>
              <a:t>Daño por sequía en cultivos</a:t>
            </a:r>
          </a:p>
        </p:txBody>
      </p:sp>
      <p:sp>
        <p:nvSpPr>
          <p:cNvPr id="7" name="TextBox 6"/>
          <p:cNvSpPr txBox="1"/>
          <p:nvPr/>
        </p:nvSpPr>
        <p:spPr>
          <a:xfrm>
            <a:off x="8412480" y="329184"/>
            <a:ext cx="3246120" cy="274320"/>
          </a:xfrm>
          <a:prstGeom prst="rect">
            <a:avLst/>
          </a:prstGeom>
          <a:noFill/>
        </p:spPr>
        <p:txBody>
          <a:bodyPr wrap="square" anchor="t" lIns="0" rIns="0" tIns="0" bIns="0">
            <a:spAutoFit/>
          </a:bodyPr>
          <a:lstStyle/>
          <a:p>
            <a:pPr algn="r">
              <a:lnSpc>
                <a:spcPct val="110000"/>
              </a:lnSpc>
            </a:pPr>
            <a:r>
              <a:rPr sz="1200" b="0">
                <a:solidFill>
                  <a:srgbClr val="000000"/>
                </a:solidFill>
                <a:latin typeface="Archivo Black"/>
              </a:rPr>
              <a:t>09 / 12</a:t>
            </a:r>
          </a:p>
        </p:txBody>
      </p:sp>
      <p:sp>
        <p:nvSpPr>
          <p:cNvPr id="8" name="Rectangle 7"/>
          <p:cNvSpPr/>
          <p:nvPr/>
        </p:nvSpPr>
        <p:spPr>
          <a:xfrm>
            <a:off x="0" y="822960"/>
            <a:ext cx="12191695"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10528"/>
            <a:ext cx="12191695" cy="3474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83680"/>
            <a:ext cx="11064240" cy="228600"/>
          </a:xfrm>
          <a:prstGeom prst="rect">
            <a:avLst/>
          </a:prstGeom>
          <a:noFill/>
        </p:spPr>
        <p:txBody>
          <a:bodyPr wrap="square" anchor="t" lIns="0" rIns="0" tIns="0" bIns="0">
            <a:spAutoFit/>
          </a:bodyPr>
          <a:lstStyle/>
          <a:p>
            <a:pPr algn="ctr">
              <a:lnSpc>
                <a:spcPct val="110000"/>
              </a:lnSpc>
            </a:pPr>
            <a:r>
              <a:rPr sz="1050" b="0">
                <a:solidFill>
                  <a:srgbClr val="FFFFFF"/>
                </a:solidFill>
                <a:latin typeface="Space Grotesk"/>
              </a:rPr>
              <a:t>CC3084 Data Science  ·  CGIAR Eyes on the Ground  ·  Universidad del Valle de Guatemala</a:t>
            </a:r>
          </a:p>
        </p:txBody>
      </p:sp>
      <p:sp>
        <p:nvSpPr>
          <p:cNvPr id="11" name="Rectangle 10"/>
          <p:cNvSpPr/>
          <p:nvPr/>
        </p:nvSpPr>
        <p:spPr>
          <a:xfrm>
            <a:off x="594360" y="1143000"/>
            <a:ext cx="1732788"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097280"/>
            <a:ext cx="1732788" cy="310896"/>
          </a:xfrm>
          <a:prstGeom prst="rect">
            <a:avLst/>
          </a:prstGeom>
          <a:solidFill>
            <a:srgbClr val="C9A227"/>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097280"/>
            <a:ext cx="1732788" cy="310896"/>
          </a:xfrm>
          <a:prstGeom prst="rect">
            <a:avLst/>
          </a:prstGeom>
          <a:noFill/>
        </p:spPr>
        <p:txBody>
          <a:bodyPr wrap="square" anchor="ctr" lIns="0" rIns="0" tIns="0" bIns="0">
            <a:spAutoFit/>
          </a:bodyPr>
          <a:lstStyle/>
          <a:p>
            <a:pPr algn="ctr">
              <a:lnSpc>
                <a:spcPct val="110000"/>
              </a:lnSpc>
            </a:pPr>
            <a:r>
              <a:rPr sz="1100" b="0">
                <a:solidFill>
                  <a:srgbClr val="000000"/>
                </a:solidFill>
                <a:latin typeface="Archivo Black"/>
              </a:rPr>
              <a:t>08 · LIMITACIÓN</a:t>
            </a:r>
          </a:p>
        </p:txBody>
      </p:sp>
      <p:sp>
        <p:nvSpPr>
          <p:cNvPr id="14" name="TextBox 13"/>
          <p:cNvSpPr txBox="1"/>
          <p:nvPr/>
        </p:nvSpPr>
        <p:spPr>
          <a:xfrm>
            <a:off x="548640" y="1536192"/>
            <a:ext cx="11064240" cy="685800"/>
          </a:xfrm>
          <a:prstGeom prst="rect">
            <a:avLst/>
          </a:prstGeom>
          <a:noFill/>
        </p:spPr>
        <p:txBody>
          <a:bodyPr wrap="square" anchor="t" lIns="0" rIns="0" tIns="0" bIns="0">
            <a:spAutoFit/>
          </a:bodyPr>
          <a:lstStyle/>
          <a:p>
            <a:pPr algn="l">
              <a:lnSpc>
                <a:spcPct val="100000"/>
              </a:lnSpc>
            </a:pPr>
            <a:r>
              <a:rPr sz="3000" b="0">
                <a:solidFill>
                  <a:srgbClr val="000000"/>
                </a:solidFill>
                <a:latin typeface="Archivo Black"/>
              </a:rPr>
              <a:t>Ordenan la severidad, pero comprimen los extremos</a:t>
            </a:r>
          </a:p>
        </p:txBody>
      </p:sp>
      <p:sp>
        <p:nvSpPr>
          <p:cNvPr id="15" name="TextBox 14"/>
          <p:cNvSpPr txBox="1"/>
          <p:nvPr/>
        </p:nvSpPr>
        <p:spPr>
          <a:xfrm>
            <a:off x="548640" y="2240280"/>
            <a:ext cx="11064240" cy="411480"/>
          </a:xfrm>
          <a:prstGeom prst="rect">
            <a:avLst/>
          </a:prstGeom>
          <a:noFill/>
        </p:spPr>
        <p:txBody>
          <a:bodyPr wrap="square" anchor="t" lIns="0" rIns="0" tIns="0" bIns="0">
            <a:spAutoFit/>
          </a:bodyPr>
          <a:lstStyle/>
          <a:p>
            <a:pPr algn="l">
              <a:lnSpc>
                <a:spcPct val="110000"/>
              </a:lnSpc>
            </a:pPr>
            <a:r>
              <a:rPr sz="1450" b="0">
                <a:solidFill>
                  <a:srgbClr val="4A4A4A"/>
                </a:solidFill>
                <a:latin typeface="Space Grotesk"/>
              </a:rPr>
              <a:t>Predicción media por nivel de magnitud real de la ResNet50 ajustada y del Random Forest.</a:t>
            </a:r>
          </a:p>
        </p:txBody>
      </p:sp>
      <p:sp>
        <p:nvSpPr>
          <p:cNvPr id="16" name="Rectangle 15"/>
          <p:cNvSpPr/>
          <p:nvPr/>
        </p:nvSpPr>
        <p:spPr>
          <a:xfrm>
            <a:off x="548640" y="2724912"/>
            <a:ext cx="11091672"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 y="3090672"/>
            <a:ext cx="6949440" cy="3200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20"/>
            <a:ext cx="6949440" cy="320040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ompresion.png"/>
          <p:cNvPicPr>
            <a:picLocks noChangeAspect="1"/>
          </p:cNvPicPr>
          <p:nvPr/>
        </p:nvPicPr>
        <p:blipFill>
          <a:blip r:embed="rId2"/>
          <a:stretch>
            <a:fillRect/>
          </a:stretch>
        </p:blipFill>
        <p:spPr>
          <a:xfrm>
            <a:off x="685799" y="3199488"/>
            <a:ext cx="6675120" cy="2836462"/>
          </a:xfrm>
          <a:prstGeom prst="rect">
            <a:avLst/>
          </a:prstGeom>
        </p:spPr>
      </p:pic>
      <p:sp>
        <p:nvSpPr>
          <p:cNvPr id="20" name="Rectangle 19"/>
          <p:cNvSpPr/>
          <p:nvPr/>
        </p:nvSpPr>
        <p:spPr>
          <a:xfrm>
            <a:off x="7891272" y="3090672"/>
            <a:ext cx="3822191" cy="10058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18120" y="3017520"/>
            <a:ext cx="3822191" cy="100584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19288" y="3182112"/>
            <a:ext cx="3419856" cy="685800"/>
          </a:xfrm>
          <a:prstGeom prst="rect">
            <a:avLst/>
          </a:prstGeom>
          <a:noFill/>
        </p:spPr>
        <p:txBody>
          <a:bodyPr wrap="square" anchor="t" lIns="0" rIns="0" tIns="0" bIns="0">
            <a:spAutoFit/>
          </a:bodyPr>
          <a:lstStyle/>
          <a:p>
            <a:pPr algn="l">
              <a:lnSpc>
                <a:spcPct val="110000"/>
              </a:lnSpc>
            </a:pPr>
            <a:r>
              <a:rPr sz="2400" b="0">
                <a:solidFill>
                  <a:srgbClr val="000000"/>
                </a:solidFill>
                <a:latin typeface="Archivo Black"/>
              </a:rPr>
              <a:t>77 %</a:t>
            </a:r>
          </a:p>
        </p:txBody>
      </p:sp>
      <p:sp>
        <p:nvSpPr>
          <p:cNvPr id="23" name="TextBox 22"/>
          <p:cNvSpPr txBox="1"/>
          <p:nvPr/>
        </p:nvSpPr>
        <p:spPr>
          <a:xfrm>
            <a:off x="8019288" y="3596640"/>
            <a:ext cx="3419856" cy="243840"/>
          </a:xfrm>
          <a:prstGeom prst="rect">
            <a:avLst/>
          </a:prstGeom>
          <a:noFill/>
        </p:spPr>
        <p:txBody>
          <a:bodyPr wrap="square" anchor="t" lIns="0" rIns="0" tIns="0" bIns="0">
            <a:spAutoFit/>
          </a:bodyPr>
          <a:lstStyle/>
          <a:p>
            <a:pPr algn="l">
              <a:lnSpc>
                <a:spcPct val="110000"/>
              </a:lnSpc>
            </a:pPr>
            <a:r>
              <a:rPr sz="1350" b="0">
                <a:solidFill>
                  <a:srgbClr val="4A4A4A"/>
                </a:solidFill>
                <a:latin typeface="Space Grotesk"/>
              </a:rPr>
              <a:t>a 20 puntos o menos del valor real</a:t>
            </a:r>
          </a:p>
        </p:txBody>
      </p:sp>
      <p:sp>
        <p:nvSpPr>
          <p:cNvPr id="24" name="Rectangle 23"/>
          <p:cNvSpPr/>
          <p:nvPr/>
        </p:nvSpPr>
        <p:spPr>
          <a:xfrm>
            <a:off x="7891272" y="4279392"/>
            <a:ext cx="3822191" cy="10058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818120" y="4206240"/>
            <a:ext cx="3822191" cy="100584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19288" y="4370831"/>
            <a:ext cx="3419856" cy="685800"/>
          </a:xfrm>
          <a:prstGeom prst="rect">
            <a:avLst/>
          </a:prstGeom>
          <a:noFill/>
        </p:spPr>
        <p:txBody>
          <a:bodyPr wrap="square" anchor="t" lIns="0" rIns="0" tIns="0" bIns="0">
            <a:spAutoFit/>
          </a:bodyPr>
          <a:lstStyle/>
          <a:p>
            <a:pPr algn="l">
              <a:lnSpc>
                <a:spcPct val="110000"/>
              </a:lnSpc>
            </a:pPr>
            <a:r>
              <a:rPr sz="2400" b="0">
                <a:solidFill>
                  <a:srgbClr val="000000"/>
                </a:solidFill>
                <a:latin typeface="Archivo Black"/>
              </a:rPr>
              <a:t>48 %</a:t>
            </a:r>
          </a:p>
        </p:txBody>
      </p:sp>
      <p:sp>
        <p:nvSpPr>
          <p:cNvPr id="27" name="TextBox 26"/>
          <p:cNvSpPr txBox="1"/>
          <p:nvPr/>
        </p:nvSpPr>
        <p:spPr>
          <a:xfrm>
            <a:off x="8019288" y="4785359"/>
            <a:ext cx="3419856" cy="243840"/>
          </a:xfrm>
          <a:prstGeom prst="rect">
            <a:avLst/>
          </a:prstGeom>
          <a:noFill/>
        </p:spPr>
        <p:txBody>
          <a:bodyPr wrap="square" anchor="t" lIns="0" rIns="0" tIns="0" bIns="0">
            <a:spAutoFit/>
          </a:bodyPr>
          <a:lstStyle/>
          <a:p>
            <a:pPr algn="l">
              <a:lnSpc>
                <a:spcPct val="110000"/>
              </a:lnSpc>
            </a:pPr>
            <a:r>
              <a:rPr sz="1350" b="0">
                <a:solidFill>
                  <a:srgbClr val="4A4A4A"/>
                </a:solidFill>
                <a:latin typeface="Space Grotesk"/>
              </a:rPr>
              <a:t>a 10 puntos o menos del valor real</a:t>
            </a:r>
          </a:p>
        </p:txBody>
      </p:sp>
      <p:sp>
        <p:nvSpPr>
          <p:cNvPr id="28" name="Rectangle 27"/>
          <p:cNvSpPr/>
          <p:nvPr/>
        </p:nvSpPr>
        <p:spPr>
          <a:xfrm>
            <a:off x="7891272" y="5468112"/>
            <a:ext cx="3822191" cy="8229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18120" y="5394960"/>
            <a:ext cx="3822191" cy="822960"/>
          </a:xfrm>
          <a:prstGeom prst="rect">
            <a:avLst/>
          </a:prstGeom>
          <a:solidFill>
            <a:srgbClr val="2E6F4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01000" y="5413248"/>
            <a:ext cx="3474720" cy="777240"/>
          </a:xfrm>
          <a:prstGeom prst="rect">
            <a:avLst/>
          </a:prstGeom>
          <a:noFill/>
        </p:spPr>
        <p:txBody>
          <a:bodyPr wrap="square" anchor="ctr" lIns="0" rIns="0" tIns="0" bIns="0">
            <a:spAutoFit/>
          </a:bodyPr>
          <a:lstStyle/>
          <a:p>
            <a:pPr algn="l">
              <a:lnSpc>
                <a:spcPct val="110000"/>
              </a:lnSpc>
            </a:pPr>
            <a:r>
              <a:rPr sz="1300" b="1">
                <a:solidFill>
                  <a:srgbClr val="FFFFFF"/>
                </a:solidFill>
                <a:latin typeface="Space Grotesk"/>
              </a:rPr>
              <a:t>Sirve para priorizar reclamos y apoyar al evaluador, no para fijar el monto final.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56032"/>
            <a:ext cx="384048" cy="384048"/>
          </a:xfrm>
          <a:prstGeom prst="rect">
            <a:avLst/>
          </a:prstGeom>
          <a:solidFill>
            <a:srgbClr val="2E6F40"/>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2406" y="302117"/>
            <a:ext cx="276515" cy="268834"/>
          </a:xfrm>
          <a:custGeom>
            <a:avLst/>
            <a:gdLst/>
            <a:ahLst/>
            <a:cxnLst/>
            <a:rect l="l" t="t" r="r" b="b"/>
            <a:pathLst>
              <a:path w="276515" h="268834">
                <a:moveTo>
                  <a:pt x="138258" y="268834"/>
                </a:moveTo>
                <a:lnTo>
                  <a:pt x="138258" y="80650"/>
                </a:lnTo>
                <a:lnTo>
                  <a:pt x="53767" y="30724"/>
                </a:lnTo>
                <a:lnTo>
                  <a:pt x="0" y="99853"/>
                </a:lnTo>
                <a:lnTo>
                  <a:pt x="138258" y="153619"/>
                </a:lnTo>
                <a:lnTo>
                  <a:pt x="138258" y="80650"/>
                </a:lnTo>
                <a:lnTo>
                  <a:pt x="238110" y="0"/>
                </a:lnTo>
                <a:lnTo>
                  <a:pt x="276515" y="80650"/>
                </a:lnTo>
                <a:lnTo>
                  <a:pt x="138258" y="126736"/>
                </a:lnTo>
                <a:lnTo>
                  <a:pt x="138258" y="268834"/>
                </a:lnTo>
              </a:path>
            </a:pathLst>
          </a:custGeom>
          <a:no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46888"/>
            <a:ext cx="3657600" cy="274320"/>
          </a:xfrm>
          <a:prstGeom prst="rect">
            <a:avLst/>
          </a:prstGeom>
          <a:noFill/>
        </p:spPr>
        <p:txBody>
          <a:bodyPr wrap="square" anchor="t" lIns="0" rIns="0" tIns="0" bIns="0">
            <a:spAutoFit/>
          </a:bodyPr>
          <a:lstStyle/>
          <a:p>
            <a:pPr algn="l">
              <a:lnSpc>
                <a:spcPct val="110000"/>
              </a:lnSpc>
            </a:pPr>
            <a:r>
              <a:rPr sz="1500" b="0">
                <a:solidFill>
                  <a:srgbClr val="000000"/>
                </a:solidFill>
                <a:latin typeface="Archivo Black"/>
              </a:rPr>
              <a:t>Ojos en el campo</a:t>
            </a:r>
          </a:p>
        </p:txBody>
      </p:sp>
      <p:sp>
        <p:nvSpPr>
          <p:cNvPr id="6" name="TextBox 5"/>
          <p:cNvSpPr txBox="1"/>
          <p:nvPr/>
        </p:nvSpPr>
        <p:spPr>
          <a:xfrm>
            <a:off x="1051560" y="484632"/>
            <a:ext cx="3657600" cy="228600"/>
          </a:xfrm>
          <a:prstGeom prst="rect">
            <a:avLst/>
          </a:prstGeom>
          <a:noFill/>
        </p:spPr>
        <p:txBody>
          <a:bodyPr wrap="square" anchor="t" lIns="0" rIns="0" tIns="0" bIns="0">
            <a:spAutoFit/>
          </a:bodyPr>
          <a:lstStyle/>
          <a:p>
            <a:pPr algn="l">
              <a:lnSpc>
                <a:spcPct val="110000"/>
              </a:lnSpc>
            </a:pPr>
            <a:r>
              <a:rPr sz="1050" b="0">
                <a:solidFill>
                  <a:srgbClr val="4A4A4A"/>
                </a:solidFill>
                <a:latin typeface="Space Grotesk"/>
              </a:rPr>
              <a:t>Daño por sequía en cultivos</a:t>
            </a:r>
          </a:p>
        </p:txBody>
      </p:sp>
      <p:sp>
        <p:nvSpPr>
          <p:cNvPr id="7" name="TextBox 6"/>
          <p:cNvSpPr txBox="1"/>
          <p:nvPr/>
        </p:nvSpPr>
        <p:spPr>
          <a:xfrm>
            <a:off x="8412480" y="329184"/>
            <a:ext cx="3246120" cy="274320"/>
          </a:xfrm>
          <a:prstGeom prst="rect">
            <a:avLst/>
          </a:prstGeom>
          <a:noFill/>
        </p:spPr>
        <p:txBody>
          <a:bodyPr wrap="square" anchor="t" lIns="0" rIns="0" tIns="0" bIns="0">
            <a:spAutoFit/>
          </a:bodyPr>
          <a:lstStyle/>
          <a:p>
            <a:pPr algn="r">
              <a:lnSpc>
                <a:spcPct val="110000"/>
              </a:lnSpc>
            </a:pPr>
            <a:r>
              <a:rPr sz="1200" b="0">
                <a:solidFill>
                  <a:srgbClr val="000000"/>
                </a:solidFill>
                <a:latin typeface="Archivo Black"/>
              </a:rPr>
              <a:t>10 / 12</a:t>
            </a:r>
          </a:p>
        </p:txBody>
      </p:sp>
      <p:sp>
        <p:nvSpPr>
          <p:cNvPr id="8" name="Rectangle 7"/>
          <p:cNvSpPr/>
          <p:nvPr/>
        </p:nvSpPr>
        <p:spPr>
          <a:xfrm>
            <a:off x="0" y="822960"/>
            <a:ext cx="12191695"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10528"/>
            <a:ext cx="12191695" cy="3474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83680"/>
            <a:ext cx="11064240" cy="228600"/>
          </a:xfrm>
          <a:prstGeom prst="rect">
            <a:avLst/>
          </a:prstGeom>
          <a:noFill/>
        </p:spPr>
        <p:txBody>
          <a:bodyPr wrap="square" anchor="t" lIns="0" rIns="0" tIns="0" bIns="0">
            <a:spAutoFit/>
          </a:bodyPr>
          <a:lstStyle/>
          <a:p>
            <a:pPr algn="ctr">
              <a:lnSpc>
                <a:spcPct val="110000"/>
              </a:lnSpc>
            </a:pPr>
            <a:r>
              <a:rPr sz="1050" b="0">
                <a:solidFill>
                  <a:srgbClr val="FFFFFF"/>
                </a:solidFill>
                <a:latin typeface="Space Grotesk"/>
              </a:rPr>
              <a:t>CC3084 Data Science  ·  CGIAR Eyes on the Ground  ·  Universidad del Valle de Guatemala</a:t>
            </a:r>
          </a:p>
        </p:txBody>
      </p:sp>
      <p:sp>
        <p:nvSpPr>
          <p:cNvPr id="11" name="Rectangle 10"/>
          <p:cNvSpPr/>
          <p:nvPr/>
        </p:nvSpPr>
        <p:spPr>
          <a:xfrm>
            <a:off x="594360" y="1143000"/>
            <a:ext cx="2020824"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097280"/>
            <a:ext cx="2020824" cy="310896"/>
          </a:xfrm>
          <a:prstGeom prst="rect">
            <a:avLst/>
          </a:prstGeom>
          <a:solidFill>
            <a:srgbClr val="C9A227"/>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097280"/>
            <a:ext cx="2020824" cy="310896"/>
          </a:xfrm>
          <a:prstGeom prst="rect">
            <a:avLst/>
          </a:prstGeom>
          <a:noFill/>
        </p:spPr>
        <p:txBody>
          <a:bodyPr wrap="square" anchor="ctr" lIns="0" rIns="0" tIns="0" bIns="0">
            <a:spAutoFit/>
          </a:bodyPr>
          <a:lstStyle/>
          <a:p>
            <a:pPr algn="ctr">
              <a:lnSpc>
                <a:spcPct val="110000"/>
              </a:lnSpc>
            </a:pPr>
            <a:r>
              <a:rPr sz="1100" b="0">
                <a:solidFill>
                  <a:srgbClr val="000000"/>
                </a:solidFill>
                <a:latin typeface="Archivo Black"/>
              </a:rPr>
              <a:t>09 · LA APLICACIÓN</a:t>
            </a:r>
          </a:p>
        </p:txBody>
      </p:sp>
      <p:sp>
        <p:nvSpPr>
          <p:cNvPr id="14" name="TextBox 13"/>
          <p:cNvSpPr txBox="1"/>
          <p:nvPr/>
        </p:nvSpPr>
        <p:spPr>
          <a:xfrm>
            <a:off x="548640" y="1536192"/>
            <a:ext cx="11064240" cy="685800"/>
          </a:xfrm>
          <a:prstGeom prst="rect">
            <a:avLst/>
          </a:prstGeom>
          <a:noFill/>
        </p:spPr>
        <p:txBody>
          <a:bodyPr wrap="square" anchor="t" lIns="0" rIns="0" tIns="0" bIns="0">
            <a:spAutoFit/>
          </a:bodyPr>
          <a:lstStyle/>
          <a:p>
            <a:pPr algn="l">
              <a:lnSpc>
                <a:spcPct val="100000"/>
              </a:lnSpc>
            </a:pPr>
            <a:r>
              <a:rPr sz="3000" b="0">
                <a:solidFill>
                  <a:srgbClr val="000000"/>
                </a:solidFill>
                <a:latin typeface="Archivo Black"/>
              </a:rPr>
              <a:t>Una app para explorar, comparar y estimar</a:t>
            </a:r>
          </a:p>
        </p:txBody>
      </p:sp>
      <p:sp>
        <p:nvSpPr>
          <p:cNvPr id="15" name="TextBox 14"/>
          <p:cNvSpPr txBox="1"/>
          <p:nvPr/>
        </p:nvSpPr>
        <p:spPr>
          <a:xfrm>
            <a:off x="548640" y="2240280"/>
            <a:ext cx="11064240" cy="411480"/>
          </a:xfrm>
          <a:prstGeom prst="rect">
            <a:avLst/>
          </a:prstGeom>
          <a:noFill/>
        </p:spPr>
        <p:txBody>
          <a:bodyPr wrap="square" anchor="t" lIns="0" rIns="0" tIns="0" bIns="0">
            <a:spAutoFit/>
          </a:bodyPr>
          <a:lstStyle/>
          <a:p>
            <a:pPr algn="l">
              <a:lnSpc>
                <a:spcPct val="110000"/>
              </a:lnSpc>
            </a:pPr>
            <a:r>
              <a:rPr sz="1450" b="0">
                <a:solidFill>
                  <a:srgbClr val="4A4A4A"/>
                </a:solidFill>
                <a:latin typeface="Space Grotesk"/>
              </a:rPr>
              <a:t>React y FastAPI con un contrato OpenAPI compartido; muestra los datos y resultados reales.</a:t>
            </a:r>
          </a:p>
        </p:txBody>
      </p:sp>
      <p:sp>
        <p:nvSpPr>
          <p:cNvPr id="16" name="Rectangle 15"/>
          <p:cNvSpPr/>
          <p:nvPr/>
        </p:nvSpPr>
        <p:spPr>
          <a:xfrm>
            <a:off x="548640" y="2724912"/>
            <a:ext cx="11091672"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3503" y="3072384"/>
            <a:ext cx="4663440"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20"/>
            <a:ext cx="4663440" cy="658368"/>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108960"/>
            <a:ext cx="4389120" cy="548640"/>
          </a:xfrm>
          <a:prstGeom prst="rect">
            <a:avLst/>
          </a:prstGeom>
          <a:noFill/>
        </p:spPr>
        <p:txBody>
          <a:bodyPr wrap="square" anchor="ctr" lIns="0" rIns="0" tIns="0" bIns="0">
            <a:spAutoFit/>
          </a:bodyPr>
          <a:lstStyle/>
          <a:p>
            <a:pPr algn="l">
              <a:lnSpc>
                <a:spcPct val="110000"/>
              </a:lnSpc>
            </a:pPr>
            <a:r>
              <a:rPr sz="1300" b="0">
                <a:solidFill>
                  <a:srgbClr val="000000"/>
                </a:solidFill>
                <a:latin typeface="Archivo Black"/>
              </a:rPr>
              <a:t>Explorar  </a:t>
            </a:r>
            <a:r>
              <a:rPr sz="1200" b="0">
                <a:solidFill>
                  <a:srgbClr val="4A4A4A"/>
                </a:solidFill>
                <a:latin typeface="Space Grotesk"/>
              </a:rPr>
              <a:t>distribuciones, correlaciones y cada registro con su foto</a:t>
            </a:r>
          </a:p>
        </p:txBody>
      </p:sp>
      <p:sp>
        <p:nvSpPr>
          <p:cNvPr id="20" name="Rectangle 19"/>
          <p:cNvSpPr/>
          <p:nvPr/>
        </p:nvSpPr>
        <p:spPr>
          <a:xfrm>
            <a:off x="603503" y="3877055"/>
            <a:ext cx="4663440"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822191"/>
            <a:ext cx="4663440" cy="658368"/>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913631"/>
            <a:ext cx="4389120" cy="548640"/>
          </a:xfrm>
          <a:prstGeom prst="rect">
            <a:avLst/>
          </a:prstGeom>
          <a:noFill/>
        </p:spPr>
        <p:txBody>
          <a:bodyPr wrap="square" anchor="ctr" lIns="0" rIns="0" tIns="0" bIns="0">
            <a:spAutoFit/>
          </a:bodyPr>
          <a:lstStyle/>
          <a:p>
            <a:pPr algn="l">
              <a:lnSpc>
                <a:spcPct val="110000"/>
              </a:lnSpc>
            </a:pPr>
            <a:r>
              <a:rPr sz="1300" b="0">
                <a:solidFill>
                  <a:srgbClr val="000000"/>
                </a:solidFill>
                <a:latin typeface="Archivo Black"/>
              </a:rPr>
              <a:t>Modelos  </a:t>
            </a:r>
            <a:r>
              <a:rPr sz="1200" b="0">
                <a:solidFill>
                  <a:srgbClr val="4A4A4A"/>
                </a:solidFill>
                <a:latin typeface="Space Grotesk"/>
              </a:rPr>
              <a:t>hiperparámetros, búsqueda y curva de entrenamiento</a:t>
            </a:r>
          </a:p>
        </p:txBody>
      </p:sp>
      <p:sp>
        <p:nvSpPr>
          <p:cNvPr id="23" name="Rectangle 22"/>
          <p:cNvSpPr/>
          <p:nvPr/>
        </p:nvSpPr>
        <p:spPr>
          <a:xfrm>
            <a:off x="603503" y="4681727"/>
            <a:ext cx="4663440"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26864"/>
            <a:ext cx="4663440" cy="658368"/>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718303"/>
            <a:ext cx="4389120" cy="548640"/>
          </a:xfrm>
          <a:prstGeom prst="rect">
            <a:avLst/>
          </a:prstGeom>
          <a:noFill/>
        </p:spPr>
        <p:txBody>
          <a:bodyPr wrap="square" anchor="ctr" lIns="0" rIns="0" tIns="0" bIns="0">
            <a:spAutoFit/>
          </a:bodyPr>
          <a:lstStyle/>
          <a:p>
            <a:pPr algn="l">
              <a:lnSpc>
                <a:spcPct val="110000"/>
              </a:lnSpc>
            </a:pPr>
            <a:r>
              <a:rPr sz="1300" b="0">
                <a:solidFill>
                  <a:srgbClr val="000000"/>
                </a:solidFill>
                <a:latin typeface="Archivo Black"/>
              </a:rPr>
              <a:t>Rendimiento  </a:t>
            </a:r>
            <a:r>
              <a:rPr sz="1200" b="0">
                <a:solidFill>
                  <a:srgbClr val="4A4A4A"/>
                </a:solidFill>
                <a:latin typeface="Space Grotesk"/>
              </a:rPr>
              <a:t>métricas, real contra predicho y error por grupo</a:t>
            </a:r>
          </a:p>
        </p:txBody>
      </p:sp>
      <p:sp>
        <p:nvSpPr>
          <p:cNvPr id="26" name="Rectangle 25"/>
          <p:cNvSpPr/>
          <p:nvPr/>
        </p:nvSpPr>
        <p:spPr>
          <a:xfrm>
            <a:off x="603503" y="5486399"/>
            <a:ext cx="4663440"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431536"/>
            <a:ext cx="4663440" cy="658368"/>
          </a:xfrm>
          <a:prstGeom prst="rect">
            <a:avLst/>
          </a:prstGeom>
          <a:solidFill>
            <a:srgbClr val="EDE1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522975"/>
            <a:ext cx="4389120" cy="548640"/>
          </a:xfrm>
          <a:prstGeom prst="rect">
            <a:avLst/>
          </a:prstGeom>
          <a:noFill/>
        </p:spPr>
        <p:txBody>
          <a:bodyPr wrap="square" anchor="ctr" lIns="0" rIns="0" tIns="0" bIns="0">
            <a:spAutoFit/>
          </a:bodyPr>
          <a:lstStyle/>
          <a:p>
            <a:pPr algn="l">
              <a:lnSpc>
                <a:spcPct val="110000"/>
              </a:lnSpc>
            </a:pPr>
            <a:r>
              <a:rPr sz="1300" b="0">
                <a:solidFill>
                  <a:srgbClr val="000000"/>
                </a:solidFill>
                <a:latin typeface="Archivo Black"/>
              </a:rPr>
              <a:t>Predecir  </a:t>
            </a:r>
            <a:r>
              <a:rPr sz="1200" b="0">
                <a:solidFill>
                  <a:srgbClr val="4A4A4A"/>
                </a:solidFill>
                <a:latin typeface="Space Grotesk"/>
              </a:rPr>
              <a:t>sube una foto y compara la magnitud de cada modelo</a:t>
            </a:r>
          </a:p>
        </p:txBody>
      </p:sp>
      <p:sp>
        <p:nvSpPr>
          <p:cNvPr id="29" name="Rectangle 28"/>
          <p:cNvSpPr/>
          <p:nvPr/>
        </p:nvSpPr>
        <p:spPr>
          <a:xfrm>
            <a:off x="5605272" y="3044952"/>
            <a:ext cx="6108192" cy="32918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32120" y="2971800"/>
            <a:ext cx="6108192" cy="329184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app_predecir_recorte.png"/>
          <p:cNvPicPr>
            <a:picLocks noChangeAspect="1"/>
          </p:cNvPicPr>
          <p:nvPr/>
        </p:nvPicPr>
        <p:blipFill>
          <a:blip r:embed="rId2"/>
          <a:stretch>
            <a:fillRect/>
          </a:stretch>
        </p:blipFill>
        <p:spPr>
          <a:xfrm>
            <a:off x="7051094" y="3044952"/>
            <a:ext cx="3070243" cy="314553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56032"/>
            <a:ext cx="384048" cy="384048"/>
          </a:xfrm>
          <a:prstGeom prst="rect">
            <a:avLst/>
          </a:prstGeom>
          <a:solidFill>
            <a:srgbClr val="2E6F40"/>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2406" y="302117"/>
            <a:ext cx="276515" cy="268834"/>
          </a:xfrm>
          <a:custGeom>
            <a:avLst/>
            <a:gdLst/>
            <a:ahLst/>
            <a:cxnLst/>
            <a:rect l="l" t="t" r="r" b="b"/>
            <a:pathLst>
              <a:path w="276515" h="268834">
                <a:moveTo>
                  <a:pt x="138258" y="268834"/>
                </a:moveTo>
                <a:lnTo>
                  <a:pt x="138258" y="80650"/>
                </a:lnTo>
                <a:lnTo>
                  <a:pt x="53767" y="30724"/>
                </a:lnTo>
                <a:lnTo>
                  <a:pt x="0" y="99853"/>
                </a:lnTo>
                <a:lnTo>
                  <a:pt x="138258" y="153619"/>
                </a:lnTo>
                <a:lnTo>
                  <a:pt x="138258" y="80650"/>
                </a:lnTo>
                <a:lnTo>
                  <a:pt x="238110" y="0"/>
                </a:lnTo>
                <a:lnTo>
                  <a:pt x="276515" y="80650"/>
                </a:lnTo>
                <a:lnTo>
                  <a:pt x="138258" y="126736"/>
                </a:lnTo>
                <a:lnTo>
                  <a:pt x="138258" y="268834"/>
                </a:lnTo>
              </a:path>
            </a:pathLst>
          </a:custGeom>
          <a:no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46888"/>
            <a:ext cx="3657600" cy="274320"/>
          </a:xfrm>
          <a:prstGeom prst="rect">
            <a:avLst/>
          </a:prstGeom>
          <a:noFill/>
        </p:spPr>
        <p:txBody>
          <a:bodyPr wrap="square" anchor="t" lIns="0" rIns="0" tIns="0" bIns="0">
            <a:spAutoFit/>
          </a:bodyPr>
          <a:lstStyle/>
          <a:p>
            <a:pPr algn="l">
              <a:lnSpc>
                <a:spcPct val="110000"/>
              </a:lnSpc>
            </a:pPr>
            <a:r>
              <a:rPr sz="1500" b="0">
                <a:solidFill>
                  <a:srgbClr val="000000"/>
                </a:solidFill>
                <a:latin typeface="Archivo Black"/>
              </a:rPr>
              <a:t>Ojos en el campo</a:t>
            </a:r>
          </a:p>
        </p:txBody>
      </p:sp>
      <p:sp>
        <p:nvSpPr>
          <p:cNvPr id="6" name="TextBox 5"/>
          <p:cNvSpPr txBox="1"/>
          <p:nvPr/>
        </p:nvSpPr>
        <p:spPr>
          <a:xfrm>
            <a:off x="1051560" y="484632"/>
            <a:ext cx="3657600" cy="228600"/>
          </a:xfrm>
          <a:prstGeom prst="rect">
            <a:avLst/>
          </a:prstGeom>
          <a:noFill/>
        </p:spPr>
        <p:txBody>
          <a:bodyPr wrap="square" anchor="t" lIns="0" rIns="0" tIns="0" bIns="0">
            <a:spAutoFit/>
          </a:bodyPr>
          <a:lstStyle/>
          <a:p>
            <a:pPr algn="l">
              <a:lnSpc>
                <a:spcPct val="110000"/>
              </a:lnSpc>
            </a:pPr>
            <a:r>
              <a:rPr sz="1050" b="0">
                <a:solidFill>
                  <a:srgbClr val="4A4A4A"/>
                </a:solidFill>
                <a:latin typeface="Space Grotesk"/>
              </a:rPr>
              <a:t>Daño por sequía en cultivos</a:t>
            </a:r>
          </a:p>
        </p:txBody>
      </p:sp>
      <p:sp>
        <p:nvSpPr>
          <p:cNvPr id="7" name="TextBox 6"/>
          <p:cNvSpPr txBox="1"/>
          <p:nvPr/>
        </p:nvSpPr>
        <p:spPr>
          <a:xfrm>
            <a:off x="8412480" y="329184"/>
            <a:ext cx="3246120" cy="274320"/>
          </a:xfrm>
          <a:prstGeom prst="rect">
            <a:avLst/>
          </a:prstGeom>
          <a:noFill/>
        </p:spPr>
        <p:txBody>
          <a:bodyPr wrap="square" anchor="t" lIns="0" rIns="0" tIns="0" bIns="0">
            <a:spAutoFit/>
          </a:bodyPr>
          <a:lstStyle/>
          <a:p>
            <a:pPr algn="r">
              <a:lnSpc>
                <a:spcPct val="110000"/>
              </a:lnSpc>
            </a:pPr>
            <a:r>
              <a:rPr sz="1200" b="0">
                <a:solidFill>
                  <a:srgbClr val="000000"/>
                </a:solidFill>
                <a:latin typeface="Archivo Black"/>
              </a:rPr>
              <a:t>11 / 12</a:t>
            </a:r>
          </a:p>
        </p:txBody>
      </p:sp>
      <p:sp>
        <p:nvSpPr>
          <p:cNvPr id="8" name="Rectangle 7"/>
          <p:cNvSpPr/>
          <p:nvPr/>
        </p:nvSpPr>
        <p:spPr>
          <a:xfrm>
            <a:off x="0" y="822960"/>
            <a:ext cx="12191695"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10528"/>
            <a:ext cx="12191695" cy="3474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83680"/>
            <a:ext cx="11064240" cy="228600"/>
          </a:xfrm>
          <a:prstGeom prst="rect">
            <a:avLst/>
          </a:prstGeom>
          <a:noFill/>
        </p:spPr>
        <p:txBody>
          <a:bodyPr wrap="square" anchor="t" lIns="0" rIns="0" tIns="0" bIns="0">
            <a:spAutoFit/>
          </a:bodyPr>
          <a:lstStyle/>
          <a:p>
            <a:pPr algn="ctr">
              <a:lnSpc>
                <a:spcPct val="110000"/>
              </a:lnSpc>
            </a:pPr>
            <a:r>
              <a:rPr sz="1050" b="0">
                <a:solidFill>
                  <a:srgbClr val="FFFFFF"/>
                </a:solidFill>
                <a:latin typeface="Space Grotesk"/>
              </a:rPr>
              <a:t>CC3084 Data Science  ·  CGIAR Eyes on the Ground  ·  Universidad del Valle de Guatemala</a:t>
            </a:r>
          </a:p>
        </p:txBody>
      </p:sp>
      <p:sp>
        <p:nvSpPr>
          <p:cNvPr id="11" name="Rectangle 10"/>
          <p:cNvSpPr/>
          <p:nvPr/>
        </p:nvSpPr>
        <p:spPr>
          <a:xfrm>
            <a:off x="594360" y="1143000"/>
            <a:ext cx="1924812"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097280"/>
            <a:ext cx="1924812" cy="310896"/>
          </a:xfrm>
          <a:prstGeom prst="rect">
            <a:avLst/>
          </a:prstGeom>
          <a:solidFill>
            <a:srgbClr val="C9A227"/>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097280"/>
            <a:ext cx="1924812" cy="310896"/>
          </a:xfrm>
          <a:prstGeom prst="rect">
            <a:avLst/>
          </a:prstGeom>
          <a:noFill/>
        </p:spPr>
        <p:txBody>
          <a:bodyPr wrap="square" anchor="ctr" lIns="0" rIns="0" tIns="0" bIns="0">
            <a:spAutoFit/>
          </a:bodyPr>
          <a:lstStyle/>
          <a:p>
            <a:pPr algn="ctr">
              <a:lnSpc>
                <a:spcPct val="110000"/>
              </a:lnSpc>
            </a:pPr>
            <a:r>
              <a:rPr sz="1100" b="0">
                <a:solidFill>
                  <a:srgbClr val="000000"/>
                </a:solidFill>
                <a:latin typeface="Archivo Black"/>
              </a:rPr>
              <a:t>10 · CONCLUSIONES</a:t>
            </a:r>
          </a:p>
        </p:txBody>
      </p:sp>
      <p:sp>
        <p:nvSpPr>
          <p:cNvPr id="14" name="TextBox 13"/>
          <p:cNvSpPr txBox="1"/>
          <p:nvPr/>
        </p:nvSpPr>
        <p:spPr>
          <a:xfrm>
            <a:off x="548640" y="1536192"/>
            <a:ext cx="11064240" cy="685800"/>
          </a:xfrm>
          <a:prstGeom prst="rect">
            <a:avLst/>
          </a:prstGeom>
          <a:noFill/>
        </p:spPr>
        <p:txBody>
          <a:bodyPr wrap="square" anchor="t" lIns="0" rIns="0" tIns="0" bIns="0">
            <a:spAutoFit/>
          </a:bodyPr>
          <a:lstStyle/>
          <a:p>
            <a:pPr algn="l">
              <a:lnSpc>
                <a:spcPct val="100000"/>
              </a:lnSpc>
            </a:pPr>
            <a:r>
              <a:rPr sz="3000" b="0">
                <a:solidFill>
                  <a:srgbClr val="000000"/>
                </a:solidFill>
                <a:latin typeface="Archivo Black"/>
              </a:rPr>
              <a:t>Recomendamos ResNet50 para la aplicación</a:t>
            </a:r>
          </a:p>
        </p:txBody>
      </p:sp>
      <p:sp>
        <p:nvSpPr>
          <p:cNvPr id="15" name="TextBox 14"/>
          <p:cNvSpPr txBox="1"/>
          <p:nvPr/>
        </p:nvSpPr>
        <p:spPr>
          <a:xfrm>
            <a:off x="548640" y="2240280"/>
            <a:ext cx="11064240" cy="411480"/>
          </a:xfrm>
          <a:prstGeom prst="rect">
            <a:avLst/>
          </a:prstGeom>
          <a:noFill/>
        </p:spPr>
        <p:txBody>
          <a:bodyPr wrap="square" anchor="t" lIns="0" rIns="0" tIns="0" bIns="0">
            <a:spAutoFit/>
          </a:bodyPr>
          <a:lstStyle/>
          <a:p>
            <a:pPr algn="l">
              <a:lnSpc>
                <a:spcPct val="110000"/>
              </a:lnSpc>
            </a:pPr>
            <a:r>
              <a:rPr sz="1450" b="0">
                <a:solidFill>
                  <a:srgbClr val="4A4A4A"/>
                </a:solidFill>
                <a:latin typeface="Space Grotesk"/>
              </a:rPr>
              <a:t>Tres ideas que deja el proyecto.</a:t>
            </a:r>
          </a:p>
        </p:txBody>
      </p:sp>
      <p:sp>
        <p:nvSpPr>
          <p:cNvPr id="16" name="Rectangle 15"/>
          <p:cNvSpPr/>
          <p:nvPr/>
        </p:nvSpPr>
        <p:spPr>
          <a:xfrm>
            <a:off x="548640" y="2724912"/>
            <a:ext cx="11091672"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 y="3136392"/>
            <a:ext cx="3520440" cy="31089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63240"/>
            <a:ext cx="3520440" cy="310896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46120"/>
            <a:ext cx="3108960" cy="548640"/>
          </a:xfrm>
          <a:prstGeom prst="rect">
            <a:avLst/>
          </a:prstGeom>
          <a:noFill/>
        </p:spPr>
        <p:txBody>
          <a:bodyPr wrap="square" anchor="t" lIns="0" rIns="0" tIns="0" bIns="0">
            <a:spAutoFit/>
          </a:bodyPr>
          <a:lstStyle/>
          <a:p>
            <a:pPr algn="l">
              <a:lnSpc>
                <a:spcPct val="110000"/>
              </a:lnSpc>
            </a:pPr>
            <a:r>
              <a:rPr sz="4000" b="0">
                <a:solidFill>
                  <a:srgbClr val="000000"/>
                </a:solidFill>
                <a:latin typeface="Archivo Black"/>
              </a:rPr>
              <a:t>1</a:t>
            </a:r>
          </a:p>
        </p:txBody>
      </p:sp>
      <p:sp>
        <p:nvSpPr>
          <p:cNvPr id="20" name="TextBox 19"/>
          <p:cNvSpPr txBox="1"/>
          <p:nvPr/>
        </p:nvSpPr>
        <p:spPr>
          <a:xfrm>
            <a:off x="777240" y="3977639"/>
            <a:ext cx="3108960" cy="731520"/>
          </a:xfrm>
          <a:prstGeom prst="rect">
            <a:avLst/>
          </a:prstGeom>
          <a:noFill/>
        </p:spPr>
        <p:txBody>
          <a:bodyPr wrap="square" anchor="t" lIns="0" rIns="0" tIns="0" bIns="0">
            <a:spAutoFit/>
          </a:bodyPr>
          <a:lstStyle/>
          <a:p>
            <a:pPr algn="l">
              <a:lnSpc>
                <a:spcPct val="110000"/>
              </a:lnSpc>
            </a:pPr>
            <a:r>
              <a:rPr sz="1700" b="0">
                <a:solidFill>
                  <a:srgbClr val="000000"/>
                </a:solidFill>
                <a:latin typeface="Archivo Black"/>
              </a:rPr>
              <a:t>Aprender de la foto supera al color</a:t>
            </a:r>
          </a:p>
        </p:txBody>
      </p:sp>
      <p:sp>
        <p:nvSpPr>
          <p:cNvPr id="21" name="TextBox 20"/>
          <p:cNvSpPr txBox="1"/>
          <p:nvPr/>
        </p:nvSpPr>
        <p:spPr>
          <a:xfrm>
            <a:off x="777240" y="4754880"/>
            <a:ext cx="3108960" cy="1371600"/>
          </a:xfrm>
          <a:prstGeom prst="rect">
            <a:avLst/>
          </a:prstGeom>
          <a:noFill/>
        </p:spPr>
        <p:txBody>
          <a:bodyPr wrap="square" anchor="t" lIns="0" rIns="0" tIns="0" bIns="0">
            <a:spAutoFit/>
          </a:bodyPr>
          <a:lstStyle/>
          <a:p>
            <a:pPr algn="l">
              <a:lnSpc>
                <a:spcPct val="110000"/>
              </a:lnSpc>
            </a:pPr>
            <a:r>
              <a:rPr sz="1300" b="0">
                <a:solidFill>
                  <a:srgbClr val="4A4A4A"/>
                </a:solidFill>
                <a:latin typeface="Space Grotesk"/>
              </a:rPr>
              <a:t>La mejor red baja 2.8 puntos el RMSE del Random Forest: la textura y la escena aportan información que los promedios no capturan.</a:t>
            </a:r>
          </a:p>
        </p:txBody>
      </p:sp>
      <p:sp>
        <p:nvSpPr>
          <p:cNvPr id="22" name="Rectangle 21"/>
          <p:cNvSpPr/>
          <p:nvPr/>
        </p:nvSpPr>
        <p:spPr>
          <a:xfrm>
            <a:off x="4416552" y="3136392"/>
            <a:ext cx="3520440" cy="31089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3400" y="3063240"/>
            <a:ext cx="3520440" cy="3108960"/>
          </a:xfrm>
          <a:prstGeom prst="rect">
            <a:avLst/>
          </a:prstGeom>
          <a:solidFill>
            <a:srgbClr val="2E6F4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3246120"/>
            <a:ext cx="3108960" cy="548640"/>
          </a:xfrm>
          <a:prstGeom prst="rect">
            <a:avLst/>
          </a:prstGeom>
          <a:noFill/>
        </p:spPr>
        <p:txBody>
          <a:bodyPr wrap="square" anchor="t" lIns="0" rIns="0" tIns="0" bIns="0">
            <a:spAutoFit/>
          </a:bodyPr>
          <a:lstStyle/>
          <a:p>
            <a:pPr algn="l">
              <a:lnSpc>
                <a:spcPct val="110000"/>
              </a:lnSpc>
            </a:pPr>
            <a:r>
              <a:rPr sz="4000" b="0">
                <a:solidFill>
                  <a:srgbClr val="FFFFFF"/>
                </a:solidFill>
                <a:latin typeface="Archivo Black"/>
              </a:rPr>
              <a:t>2</a:t>
            </a:r>
          </a:p>
        </p:txBody>
      </p:sp>
      <p:sp>
        <p:nvSpPr>
          <p:cNvPr id="25" name="TextBox 24"/>
          <p:cNvSpPr txBox="1"/>
          <p:nvPr/>
        </p:nvSpPr>
        <p:spPr>
          <a:xfrm>
            <a:off x="4572000" y="3977639"/>
            <a:ext cx="3108960" cy="731520"/>
          </a:xfrm>
          <a:prstGeom prst="rect">
            <a:avLst/>
          </a:prstGeom>
          <a:noFill/>
        </p:spPr>
        <p:txBody>
          <a:bodyPr wrap="square" anchor="t" lIns="0" rIns="0" tIns="0" bIns="0">
            <a:spAutoFit/>
          </a:bodyPr>
          <a:lstStyle/>
          <a:p>
            <a:pPr algn="l">
              <a:lnSpc>
                <a:spcPct val="110000"/>
              </a:lnSpc>
            </a:pPr>
            <a:r>
              <a:rPr sz="1700" b="0">
                <a:solidFill>
                  <a:srgbClr val="FFFFFF"/>
                </a:solidFill>
                <a:latin typeface="Archivo Black"/>
              </a:rPr>
              <a:t>ResNet50 para la app</a:t>
            </a:r>
          </a:p>
        </p:txBody>
      </p:sp>
      <p:sp>
        <p:nvSpPr>
          <p:cNvPr id="26" name="TextBox 25"/>
          <p:cNvSpPr txBox="1"/>
          <p:nvPr/>
        </p:nvSpPr>
        <p:spPr>
          <a:xfrm>
            <a:off x="4572000" y="4754880"/>
            <a:ext cx="3108960" cy="1371600"/>
          </a:xfrm>
          <a:prstGeom prst="rect">
            <a:avLst/>
          </a:prstGeom>
          <a:noFill/>
        </p:spPr>
        <p:txBody>
          <a:bodyPr wrap="square" anchor="t" lIns="0" rIns="0" tIns="0" bIns="0">
            <a:spAutoFit/>
          </a:bodyPr>
          <a:lstStyle/>
          <a:p>
            <a:pPr algn="l">
              <a:lnSpc>
                <a:spcPct val="110000"/>
              </a:lnSpc>
            </a:pPr>
            <a:r>
              <a:rPr sz="1300" b="0">
                <a:solidFill>
                  <a:srgbClr val="FFFFFF"/>
                </a:solidFill>
                <a:latin typeface="Space Grotesk"/>
              </a:rPr>
              <a:t>18.33 de RMSE y 20 ms por foto. La ajustada mejora solo 0.5 puntos de RMSE y tarda 31 ms; se prefiere si la latencia no importa.</a:t>
            </a:r>
          </a:p>
        </p:txBody>
      </p:sp>
      <p:sp>
        <p:nvSpPr>
          <p:cNvPr id="27" name="Rectangle 26"/>
          <p:cNvSpPr/>
          <p:nvPr/>
        </p:nvSpPr>
        <p:spPr>
          <a:xfrm>
            <a:off x="8211312" y="3136392"/>
            <a:ext cx="3520440" cy="31089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38160" y="3063240"/>
            <a:ext cx="3520440" cy="3108960"/>
          </a:xfrm>
          <a:prstGeom prst="rect">
            <a:avLst/>
          </a:prstGeom>
          <a:solidFill>
            <a:srgbClr val="EDE1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66760" y="3246120"/>
            <a:ext cx="3108960" cy="548640"/>
          </a:xfrm>
          <a:prstGeom prst="rect">
            <a:avLst/>
          </a:prstGeom>
          <a:noFill/>
        </p:spPr>
        <p:txBody>
          <a:bodyPr wrap="square" anchor="t" lIns="0" rIns="0" tIns="0" bIns="0">
            <a:spAutoFit/>
          </a:bodyPr>
          <a:lstStyle/>
          <a:p>
            <a:pPr algn="l">
              <a:lnSpc>
                <a:spcPct val="110000"/>
              </a:lnSpc>
            </a:pPr>
            <a:r>
              <a:rPr sz="4000" b="0">
                <a:solidFill>
                  <a:srgbClr val="000000"/>
                </a:solidFill>
                <a:latin typeface="Archivo Black"/>
              </a:rPr>
              <a:t>3</a:t>
            </a:r>
          </a:p>
        </p:txBody>
      </p:sp>
      <p:sp>
        <p:nvSpPr>
          <p:cNvPr id="30" name="TextBox 29"/>
          <p:cNvSpPr txBox="1"/>
          <p:nvPr/>
        </p:nvSpPr>
        <p:spPr>
          <a:xfrm>
            <a:off x="8366760" y="3977639"/>
            <a:ext cx="3108960" cy="731520"/>
          </a:xfrm>
          <a:prstGeom prst="rect">
            <a:avLst/>
          </a:prstGeom>
          <a:noFill/>
        </p:spPr>
        <p:txBody>
          <a:bodyPr wrap="square" anchor="t" lIns="0" rIns="0" tIns="0" bIns="0">
            <a:spAutoFit/>
          </a:bodyPr>
          <a:lstStyle/>
          <a:p>
            <a:pPr algn="l">
              <a:lnSpc>
                <a:spcPct val="110000"/>
              </a:lnSpc>
            </a:pPr>
            <a:r>
              <a:rPr sz="1700" b="0">
                <a:solidFill>
                  <a:srgbClr val="000000"/>
                </a:solidFill>
                <a:latin typeface="Archivo Black"/>
              </a:rPr>
              <a:t>Siguiente paso: los datos</a:t>
            </a:r>
          </a:p>
        </p:txBody>
      </p:sp>
      <p:sp>
        <p:nvSpPr>
          <p:cNvPr id="31" name="TextBox 30"/>
          <p:cNvSpPr txBox="1"/>
          <p:nvPr/>
        </p:nvSpPr>
        <p:spPr>
          <a:xfrm>
            <a:off x="8366760" y="4754880"/>
            <a:ext cx="3108960" cy="1371600"/>
          </a:xfrm>
          <a:prstGeom prst="rect">
            <a:avLst/>
          </a:prstGeom>
          <a:noFill/>
        </p:spPr>
        <p:txBody>
          <a:bodyPr wrap="square" anchor="t" lIns="0" rIns="0" tIns="0" bIns="0">
            <a:spAutoFit/>
          </a:bodyPr>
          <a:lstStyle/>
          <a:p>
            <a:pPr algn="l">
              <a:lnSpc>
                <a:spcPct val="110000"/>
              </a:lnSpc>
            </a:pPr>
            <a:r>
              <a:rPr sz="1300" b="0">
                <a:solidFill>
                  <a:srgbClr val="4A4A4A"/>
                </a:solidFill>
                <a:latin typeface="Space Grotesk"/>
              </a:rPr>
              <a:t>Más fotos de daño severo, ponderar los niveles poco frecuentes y tratar la magnitud como variable ordinal.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6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566928" cy="566928"/>
          </a:xfrm>
          <a:prstGeom prst="rect">
            <a:avLst/>
          </a:prstGeom>
          <a:solidFill>
            <a:srgbClr val="F4EFE3"/>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28009" y="570951"/>
            <a:ext cx="408189" cy="396849"/>
          </a:xfrm>
          <a:custGeom>
            <a:avLst/>
            <a:gdLst/>
            <a:ahLst/>
            <a:cxnLst/>
            <a:rect l="l" t="t" r="r" b="b"/>
            <a:pathLst>
              <a:path w="408189" h="396849">
                <a:moveTo>
                  <a:pt x="204094" y="396849"/>
                </a:moveTo>
                <a:lnTo>
                  <a:pt x="204094" y="119055"/>
                </a:lnTo>
                <a:lnTo>
                  <a:pt x="79370" y="45354"/>
                </a:lnTo>
                <a:lnTo>
                  <a:pt x="0" y="147401"/>
                </a:lnTo>
                <a:lnTo>
                  <a:pt x="204094" y="226771"/>
                </a:lnTo>
                <a:lnTo>
                  <a:pt x="204094" y="119055"/>
                </a:lnTo>
                <a:lnTo>
                  <a:pt x="351496" y="0"/>
                </a:lnTo>
                <a:lnTo>
                  <a:pt x="408189" y="119055"/>
                </a:lnTo>
                <a:lnTo>
                  <a:pt x="204094" y="187086"/>
                </a:lnTo>
                <a:lnTo>
                  <a:pt x="204094" y="396849"/>
                </a:lnTo>
              </a:path>
            </a:pathLst>
          </a:custGeom>
          <a:noFill/>
          <a:ln w="32808">
            <a:solidFill>
              <a:srgbClr val="2E6F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61872" y="566928"/>
            <a:ext cx="5486400" cy="411480"/>
          </a:xfrm>
          <a:prstGeom prst="rect">
            <a:avLst/>
          </a:prstGeom>
          <a:noFill/>
        </p:spPr>
        <p:txBody>
          <a:bodyPr wrap="square" anchor="t" lIns="0" rIns="0" tIns="0" bIns="0">
            <a:spAutoFit/>
          </a:bodyPr>
          <a:lstStyle/>
          <a:p>
            <a:pPr algn="l">
              <a:lnSpc>
                <a:spcPct val="110000"/>
              </a:lnSpc>
            </a:pPr>
            <a:r>
              <a:rPr sz="2000" b="0">
                <a:solidFill>
                  <a:srgbClr val="FFFFFF"/>
                </a:solidFill>
                <a:latin typeface="Archivo Black"/>
              </a:rPr>
              <a:t>Ojos en el campo</a:t>
            </a:r>
          </a:p>
        </p:txBody>
      </p:sp>
      <p:sp>
        <p:nvSpPr>
          <p:cNvPr id="6" name="TextBox 5"/>
          <p:cNvSpPr txBox="1"/>
          <p:nvPr/>
        </p:nvSpPr>
        <p:spPr>
          <a:xfrm>
            <a:off x="548640" y="2011680"/>
            <a:ext cx="10972800" cy="1097280"/>
          </a:xfrm>
          <a:prstGeom prst="rect">
            <a:avLst/>
          </a:prstGeom>
          <a:noFill/>
        </p:spPr>
        <p:txBody>
          <a:bodyPr wrap="square" anchor="t" lIns="0" rIns="0" tIns="0" bIns="0">
            <a:spAutoFit/>
          </a:bodyPr>
          <a:lstStyle/>
          <a:p>
            <a:pPr algn="l">
              <a:lnSpc>
                <a:spcPct val="110000"/>
              </a:lnSpc>
            </a:pPr>
            <a:r>
              <a:rPr sz="5400" b="0">
                <a:solidFill>
                  <a:srgbClr val="FFFFFF"/>
                </a:solidFill>
                <a:latin typeface="Archivo Black"/>
              </a:rPr>
              <a:t>Gracias. ¿Preguntas?</a:t>
            </a:r>
          </a:p>
        </p:txBody>
      </p:sp>
      <p:sp>
        <p:nvSpPr>
          <p:cNvPr id="7" name="TextBox 6"/>
          <p:cNvSpPr txBox="1"/>
          <p:nvPr/>
        </p:nvSpPr>
        <p:spPr>
          <a:xfrm>
            <a:off x="548640" y="3200400"/>
            <a:ext cx="10058400" cy="548640"/>
          </a:xfrm>
          <a:prstGeom prst="rect">
            <a:avLst/>
          </a:prstGeom>
          <a:noFill/>
        </p:spPr>
        <p:txBody>
          <a:bodyPr wrap="square" anchor="t" lIns="0" rIns="0" tIns="0" bIns="0">
            <a:spAutoFit/>
          </a:bodyPr>
          <a:lstStyle/>
          <a:p>
            <a:pPr algn="l">
              <a:lnSpc>
                <a:spcPct val="110000"/>
              </a:lnSpc>
            </a:pPr>
            <a:r>
              <a:rPr sz="1800" b="0">
                <a:solidFill>
                  <a:srgbClr val="FFFFFF"/>
                </a:solidFill>
                <a:latin typeface="Space Grotesk"/>
              </a:rPr>
              <a:t>Ernesto Ascencio  ·  Hugo Barillas  ·  Esteban Cárcamo  ·  Diego López</a:t>
            </a:r>
          </a:p>
        </p:txBody>
      </p:sp>
      <p:sp>
        <p:nvSpPr>
          <p:cNvPr id="8" name="Rectangle 7"/>
          <p:cNvSpPr/>
          <p:nvPr/>
        </p:nvSpPr>
        <p:spPr>
          <a:xfrm>
            <a:off x="621792" y="4279392"/>
            <a:ext cx="6949440" cy="14173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4206240"/>
            <a:ext cx="6949440" cy="1417320"/>
          </a:xfrm>
          <a:prstGeom prst="rect">
            <a:avLst/>
          </a:prstGeom>
          <a:solidFill>
            <a:srgbClr val="FFFDF7"/>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343400"/>
            <a:ext cx="6583680" cy="1234440"/>
          </a:xfrm>
          <a:prstGeom prst="rect">
            <a:avLst/>
          </a:prstGeom>
          <a:noFill/>
        </p:spPr>
        <p:txBody>
          <a:bodyPr wrap="square" anchor="t" lIns="0" rIns="0" tIns="0" bIns="0">
            <a:spAutoFit/>
          </a:bodyPr>
          <a:lstStyle/>
          <a:p>
            <a:pPr algn="l">
              <a:lnSpc>
                <a:spcPct val="110000"/>
              </a:lnSpc>
            </a:pPr>
            <a:r>
              <a:rPr sz="1400" b="0">
                <a:solidFill>
                  <a:srgbClr val="000000"/>
                </a:solidFill>
                <a:latin typeface="Archivo Black"/>
              </a:rPr>
              <a:t>Repositorio</a:t>
            </a:r>
          </a:p>
          <a:p>
            <a:pPr algn="l">
              <a:lnSpc>
                <a:spcPct val="110000"/>
              </a:lnSpc>
            </a:pPr>
            <a:r>
              <a:rPr sz="1600" b="1">
                <a:solidFill>
                  <a:srgbClr val="000000"/>
                </a:solidFill>
                <a:latin typeface="Space Grotesk"/>
              </a:rPr>
              <a:t>github.com/BARHUG0/CC3084-Proyecto2</a:t>
            </a:r>
          </a:p>
          <a:p>
            <a:pPr algn="l">
              <a:lnSpc>
                <a:spcPct val="110000"/>
              </a:lnSpc>
            </a:pPr>
            <a:r>
              <a:rPr sz="1300" b="0">
                <a:solidFill>
                  <a:srgbClr val="4A4A4A"/>
                </a:solidFill>
                <a:latin typeface="Space Grotesk"/>
              </a:rPr>
              <a:t>Datos: CGIAR Eyes on the Ground, Zindi (2023)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